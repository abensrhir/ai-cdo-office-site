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HEALTHCARE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640080" y="1143000"/>
            <a:ext cx="2286000" cy="54864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6304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&amp; Data Strategy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2026-2028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Three-Year Roadmap  |  March 2026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Chief Data &amp; AI Officer  |  Office of the CDAIO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902952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445752" y="0"/>
            <a:ext cx="2743200" cy="6858000"/>
          </a:xfrm>
          <a:prstGeom prst="rect">
            <a:avLst/>
          </a:prstGeom>
          <a:solidFill>
            <a:srgbClr val="2D4A7A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Meridian’s $180K AI spend trails healthcare peers by 26x, creating a $9.2M value gap closable in 3 years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74552" cy="18288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4" name="Text 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64592" cy="164592"/>
          </a:xfrm>
          <a:prstGeom prst="ellipse">
            <a:avLst/>
          </a:prstGeom>
          <a:solidFill>
            <a:srgbClr val="2251FF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09728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Situation: 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$520M healthcare company invests only 0.03% of revenue in AI vs leader benchmark of 0.8% — a 26x investment gap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164592" cy="164592"/>
          </a:xfrm>
          <a:prstGeom prst="ellipse">
            <a:avLst/>
          </a:prstGeom>
          <a:solidFill>
            <a:srgbClr val="2251FF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10312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Complication: 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2 ML models in production vs leaders’ 15+, maturity at 2.2/5.0 vs leaders’ 4.0, no governance framework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246120"/>
            <a:ext cx="164592" cy="164592"/>
          </a:xfrm>
          <a:prstGeom prst="ellipse">
            <a:avLst/>
          </a:prstGeom>
          <a:solidFill>
            <a:srgbClr val="2251FF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10896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Resolution: </a:t>
            </a:r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$4.1M phased investment across 12 use cases closes maturity gap to 3.5 and generates $9.2M return (base case)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412480" y="1097280"/>
            <a:ext cx="3200400" cy="3200400"/>
          </a:xfrm>
          <a:prstGeom prst="roundRect">
            <a:avLst>
              <a:gd name="adj" fmla="val 2857"/>
            </a:avLst>
          </a:prstGeom>
          <a:solidFill>
            <a:srgbClr val="E8EDF5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0" y="1234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NUMBERS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0" y="16459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$4.1M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686800" y="192024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68680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$9.2M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686800" y="256032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686800" y="29260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2.2x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686800" y="320040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0" y="35661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686800" y="384048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CDAIO Office analysis, maturity assessment, use case scoring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sections structure the path from 2.2 maturity to competitive parity at 3.5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74552" cy="18288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4" name="Text 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74552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C0C0C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188720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1188720"/>
            <a:ext cx="94457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State Assessment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11274552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C0C0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2103120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645920" y="2103120"/>
            <a:ext cx="94457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Opportunity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11274552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C0C0C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1520" y="3017520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45920" y="3017520"/>
            <a:ext cx="94457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Pillars &amp; Roadmap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3931920"/>
            <a:ext cx="11274552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C0C0C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" y="3931920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645920" y="3931920"/>
            <a:ext cx="94457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Plan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4846320"/>
            <a:ext cx="11274552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C0C0C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31520" y="4846320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645920" y="4846320"/>
            <a:ext cx="94457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&amp; Returns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CURRENT STATE ASSESSMENT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3840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stand today across 6 maturity dimensions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754880"/>
            <a:ext cx="3657600" cy="54864"/>
          </a:xfrm>
          <a:prstGeom prst="rect">
            <a:avLst/>
          </a:prstGeom>
          <a:solidFill>
            <a:srgbClr val="2251FF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AI maturity of 2.2/5.0 places Meridian at the Emerging stage, trailing healthcare leaders by 1.8 points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74552" cy="18288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4" name="Text 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4360" y="1143000"/>
            <a:ext cx="3474720" cy="2194560"/>
          </a:xfrm>
          <a:prstGeom prst="roundRect">
            <a:avLst>
              <a:gd name="adj" fmla="val 4167"/>
            </a:avLst>
          </a:prstGeom>
          <a:solidFill>
            <a:srgbClr val="E8EDF5"/>
          </a:solidFill>
          <a:ln/>
        </p:spPr>
      </p:sp>
      <p:sp>
        <p:nvSpPr>
          <p:cNvPr id="6" name="Shape 4"/>
          <p:cNvSpPr/>
          <p:nvPr/>
        </p:nvSpPr>
        <p:spPr>
          <a:xfrm>
            <a:off x="3611880" y="1280160"/>
            <a:ext cx="201168" cy="201168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2588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2.5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874520" y="1554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5.0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214884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&amp; Ambition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26060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Gap: -1.0  |  Target: 3.5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Weight: 20%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89120" y="1143000"/>
            <a:ext cx="3474720" cy="2194560"/>
          </a:xfrm>
          <a:prstGeom prst="roundRect">
            <a:avLst>
              <a:gd name="adj" fmla="val 4167"/>
            </a:avLst>
          </a:prstGeom>
          <a:solidFill>
            <a:srgbClr val="E8EDF5"/>
          </a:solidFill>
          <a:ln/>
        </p:spPr>
      </p:sp>
      <p:sp>
        <p:nvSpPr>
          <p:cNvPr id="13" name="Shape 11"/>
          <p:cNvSpPr/>
          <p:nvPr/>
        </p:nvSpPr>
        <p:spPr>
          <a:xfrm>
            <a:off x="7406640" y="1280160"/>
            <a:ext cx="201168" cy="201168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0" y="132588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2.3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5669280" y="1554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5.0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14884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Technology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0" y="26060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Gap: -1.2  |  Target: 3.5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29260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Weight: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183880" y="1143000"/>
            <a:ext cx="3474720" cy="2194560"/>
          </a:xfrm>
          <a:prstGeom prst="roundRect">
            <a:avLst>
              <a:gd name="adj" fmla="val 4167"/>
            </a:avLst>
          </a:prstGeom>
          <a:solidFill>
            <a:srgbClr val="E8EDF5"/>
          </a:solidFill>
          <a:ln/>
        </p:spPr>
      </p:sp>
      <p:sp>
        <p:nvSpPr>
          <p:cNvPr id="20" name="Shape 18"/>
          <p:cNvSpPr/>
          <p:nvPr/>
        </p:nvSpPr>
        <p:spPr>
          <a:xfrm>
            <a:off x="11201400" y="1280160"/>
            <a:ext cx="201168" cy="2011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1" name="Text 19"/>
          <p:cNvSpPr/>
          <p:nvPr/>
        </p:nvSpPr>
        <p:spPr>
          <a:xfrm>
            <a:off x="8366760" y="132588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1.8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9464040" y="1554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5.0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366760" y="214884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&amp; Capabilities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366760" y="26060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50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Gap: -1.7  |  Target: 3.5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66760" y="29260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Weight: 15%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94360" y="3611880"/>
            <a:ext cx="3474720" cy="2194560"/>
          </a:xfrm>
          <a:prstGeom prst="roundRect">
            <a:avLst>
              <a:gd name="adj" fmla="val 4167"/>
            </a:avLst>
          </a:prstGeom>
          <a:solidFill>
            <a:srgbClr val="E8ED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611880" y="3749040"/>
            <a:ext cx="201168" cy="2011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37947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1.6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1874520" y="40233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5.0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77240" y="4617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&amp; Responsible AI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77240" y="50749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50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Gap: -1.9  |  Target: 3.5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77240" y="5394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Weight: 20%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389120" y="3611880"/>
            <a:ext cx="3474720" cy="2194560"/>
          </a:xfrm>
          <a:prstGeom prst="roundRect">
            <a:avLst>
              <a:gd name="adj" fmla="val 4167"/>
            </a:avLst>
          </a:prstGeom>
          <a:solidFill>
            <a:srgbClr val="E8EDF5"/>
          </a:solidFill>
          <a:ln/>
        </p:spPr>
      </p:sp>
      <p:sp>
        <p:nvSpPr>
          <p:cNvPr id="34" name="Shape 32"/>
          <p:cNvSpPr/>
          <p:nvPr/>
        </p:nvSpPr>
        <p:spPr>
          <a:xfrm>
            <a:off x="7406640" y="3749040"/>
            <a:ext cx="201168" cy="20116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0" y="37947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2.8</a:t>
            </a:r>
            <a:endParaRPr lang="en-US" sz="3600" dirty="0"/>
          </a:p>
        </p:txBody>
      </p:sp>
      <p:sp>
        <p:nvSpPr>
          <p:cNvPr id="36" name="Text 34"/>
          <p:cNvSpPr/>
          <p:nvPr/>
        </p:nvSpPr>
        <p:spPr>
          <a:xfrm>
            <a:off x="5669280" y="40233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5.0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0" y="4617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 Development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572000" y="50749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Gap: -0.7  |  Target: 3.5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0" y="5394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Weight: 15%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183880" y="3611880"/>
            <a:ext cx="3474720" cy="2194560"/>
          </a:xfrm>
          <a:prstGeom prst="roundRect">
            <a:avLst>
              <a:gd name="adj" fmla="val 4167"/>
            </a:avLst>
          </a:prstGeom>
          <a:solidFill>
            <a:srgbClr val="E8EDF5"/>
          </a:solidFill>
          <a:ln/>
        </p:spPr>
      </p:sp>
      <p:sp>
        <p:nvSpPr>
          <p:cNvPr id="41" name="Shape 39"/>
          <p:cNvSpPr/>
          <p:nvPr/>
        </p:nvSpPr>
        <p:spPr>
          <a:xfrm>
            <a:off x="11201400" y="3749040"/>
            <a:ext cx="201168" cy="201168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42" name="Text 40"/>
          <p:cNvSpPr/>
          <p:nvPr/>
        </p:nvSpPr>
        <p:spPr>
          <a:xfrm>
            <a:off x="8366760" y="37947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2.4</a:t>
            </a:r>
            <a:endParaRPr lang="en-US" sz="3600" dirty="0"/>
          </a:p>
        </p:txBody>
      </p:sp>
      <p:sp>
        <p:nvSpPr>
          <p:cNvPr id="43" name="Text 41"/>
          <p:cNvSpPr/>
          <p:nvPr/>
        </p:nvSpPr>
        <p:spPr>
          <a:xfrm>
            <a:off x="9464040" y="40233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5.0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366760" y="4617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Ecosystem &amp; Innovation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366760" y="50749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Gap: -1.1  |  Target: 3.5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366760" y="5394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Weight: 10%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57200" y="64465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CDAIO maturity assessment, industry benchmarks (McKinsey, 2024)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and talent gaps of 1.9 and 1.7 points respectively require immediate foundation investment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74552" cy="18288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4" name="Text 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&amp; Ambition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566160" y="1252728"/>
            <a:ext cx="3886200" cy="1645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7" name="Shape 5"/>
          <p:cNvSpPr/>
          <p:nvPr/>
        </p:nvSpPr>
        <p:spPr>
          <a:xfrm>
            <a:off x="3566160" y="1419606"/>
            <a:ext cx="4352544" cy="164592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8" name="Shape 6"/>
          <p:cNvSpPr/>
          <p:nvPr/>
        </p:nvSpPr>
        <p:spPr>
          <a:xfrm>
            <a:off x="9006840" y="1216152"/>
            <a:ext cx="36576" cy="448056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9" name="Text 7"/>
          <p:cNvSpPr/>
          <p:nvPr/>
        </p:nvSpPr>
        <p:spPr>
          <a:xfrm>
            <a:off x="7525512" y="1216152"/>
            <a:ext cx="4572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9202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Technology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566160" y="1938528"/>
            <a:ext cx="3575304" cy="1645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2" name="Shape 10"/>
          <p:cNvSpPr/>
          <p:nvPr/>
        </p:nvSpPr>
        <p:spPr>
          <a:xfrm>
            <a:off x="3566160" y="2105406"/>
            <a:ext cx="4352544" cy="164592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006840" y="1901952"/>
            <a:ext cx="36576" cy="448056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14" name="Text 12"/>
          <p:cNvSpPr/>
          <p:nvPr/>
        </p:nvSpPr>
        <p:spPr>
          <a:xfrm>
            <a:off x="7214616" y="1901952"/>
            <a:ext cx="4572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26060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&amp; Capabilities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66160" y="2624328"/>
            <a:ext cx="2798064" cy="1645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7" name="Shape 15"/>
          <p:cNvSpPr/>
          <p:nvPr/>
        </p:nvSpPr>
        <p:spPr>
          <a:xfrm>
            <a:off x="3566160" y="2791206"/>
            <a:ext cx="4352544" cy="164592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18" name="Shape 16"/>
          <p:cNvSpPr/>
          <p:nvPr/>
        </p:nvSpPr>
        <p:spPr>
          <a:xfrm>
            <a:off x="9006840" y="2587752"/>
            <a:ext cx="36576" cy="448056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19" name="Text 17"/>
          <p:cNvSpPr/>
          <p:nvPr/>
        </p:nvSpPr>
        <p:spPr>
          <a:xfrm>
            <a:off x="6437376" y="2587752"/>
            <a:ext cx="4572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2918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&amp; Responsible AI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566160" y="3310128"/>
            <a:ext cx="2487168" cy="1645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Shape 20"/>
          <p:cNvSpPr/>
          <p:nvPr/>
        </p:nvSpPr>
        <p:spPr>
          <a:xfrm>
            <a:off x="3566160" y="3477006"/>
            <a:ext cx="4352544" cy="164592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23" name="Shape 21"/>
          <p:cNvSpPr/>
          <p:nvPr/>
        </p:nvSpPr>
        <p:spPr>
          <a:xfrm>
            <a:off x="9006840" y="3273552"/>
            <a:ext cx="36576" cy="448056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24" name="Text 22"/>
          <p:cNvSpPr/>
          <p:nvPr/>
        </p:nvSpPr>
        <p:spPr>
          <a:xfrm>
            <a:off x="6126480" y="3273552"/>
            <a:ext cx="4572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39776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 Development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566160" y="3995928"/>
            <a:ext cx="4352544" cy="1645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7" name="Shape 25"/>
          <p:cNvSpPr/>
          <p:nvPr/>
        </p:nvSpPr>
        <p:spPr>
          <a:xfrm>
            <a:off x="3566160" y="4162806"/>
            <a:ext cx="4352544" cy="164592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28" name="Shape 26"/>
          <p:cNvSpPr/>
          <p:nvPr/>
        </p:nvSpPr>
        <p:spPr>
          <a:xfrm>
            <a:off x="9006840" y="3959352"/>
            <a:ext cx="36576" cy="448056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29" name="Text 27"/>
          <p:cNvSpPr/>
          <p:nvPr/>
        </p:nvSpPr>
        <p:spPr>
          <a:xfrm>
            <a:off x="7991856" y="3959352"/>
            <a:ext cx="4572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46634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Ecosystem &amp; Innovation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66160" y="4681728"/>
            <a:ext cx="3730752" cy="1645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2" name="Shape 30"/>
          <p:cNvSpPr/>
          <p:nvPr/>
        </p:nvSpPr>
        <p:spPr>
          <a:xfrm>
            <a:off x="3566160" y="4848606"/>
            <a:ext cx="4352544" cy="164592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33" name="Shape 31"/>
          <p:cNvSpPr/>
          <p:nvPr/>
        </p:nvSpPr>
        <p:spPr>
          <a:xfrm>
            <a:off x="9006840" y="4645152"/>
            <a:ext cx="36576" cy="448056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34" name="Text 32"/>
          <p:cNvSpPr/>
          <p:nvPr/>
        </p:nvSpPr>
        <p:spPr>
          <a:xfrm>
            <a:off x="7370064" y="4645152"/>
            <a:ext cx="457200" cy="2057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57600" y="5669280"/>
            <a:ext cx="274320" cy="1371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6" name="Text 34"/>
          <p:cNvSpPr/>
          <p:nvPr/>
        </p:nvSpPr>
        <p:spPr>
          <a:xfrm>
            <a:off x="4023360" y="562356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400800" y="5669280"/>
            <a:ext cx="274320" cy="137160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38" name="Text 36"/>
          <p:cNvSpPr/>
          <p:nvPr/>
        </p:nvSpPr>
        <p:spPr>
          <a:xfrm>
            <a:off x="6766560" y="562356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Healthcare Avg (2.8)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9144000" y="5669280"/>
            <a:ext cx="274320" cy="137160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40" name="Text 38"/>
          <p:cNvSpPr/>
          <p:nvPr/>
        </p:nvSpPr>
        <p:spPr>
          <a:xfrm>
            <a:off x="9509760" y="562356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(3.5)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57200" y="64465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CDAIO assessment, McKinsey Healthcare AI Survey (2024)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AI OPPORTUNITY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3840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context and use case portfolio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754880"/>
            <a:ext cx="3657600" cy="54864"/>
          </a:xfrm>
          <a:prstGeom prst="rect">
            <a:avLst/>
          </a:prstGeom>
          <a:solidFill>
            <a:srgbClr val="2251FF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Healthcare AI market delivers $150-260B in total value; Meridian’s $520M revenue positions it for $9.2M capture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74552" cy="18288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4" name="Text 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4360" y="114300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E8EDF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32588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$150-260B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Healthcare AI Market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3317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industry value pool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14300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E8EDF5"/>
          </a:solidFill>
          <a:ln/>
        </p:spPr>
      </p:sp>
      <p:sp>
        <p:nvSpPr>
          <p:cNvPr id="10" name="Text 8"/>
          <p:cNvSpPr/>
          <p:nvPr/>
        </p:nvSpPr>
        <p:spPr>
          <a:xfrm>
            <a:off x="4617720" y="132588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10-15%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617720" y="19659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EBITDA Uplift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23317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AI-driven performance gain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83880" y="1143000"/>
            <a:ext cx="3474720" cy="1828800"/>
          </a:xfrm>
          <a:prstGeom prst="roundRect">
            <a:avLst>
              <a:gd name="adj" fmla="val 5000"/>
            </a:avLst>
          </a:prstGeom>
          <a:solidFill>
            <a:srgbClr val="E8EDF5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132588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10-20%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8412480" y="19659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Reduction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412480" y="23317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efficiency potential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3538728"/>
            <a:ext cx="128016" cy="128016"/>
          </a:xfrm>
          <a:prstGeom prst="ellipse">
            <a:avLst/>
          </a:prstGeom>
          <a:solidFill>
            <a:srgbClr val="2251FF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3429000"/>
            <a:ext cx="103601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 of healthcare leaders have AI strategies; only 23% have operationalized them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4178808"/>
            <a:ext cx="128016" cy="128016"/>
          </a:xfrm>
          <a:prstGeom prst="ellipse">
            <a:avLst/>
          </a:prstGeom>
          <a:solidFill>
            <a:srgbClr val="2251FF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4069080"/>
            <a:ext cx="103601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NLP and predictive analytics show highest near-term ROI in healthcare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4818888"/>
            <a:ext cx="128016" cy="128016"/>
          </a:xfrm>
          <a:prstGeom prst="ellipse">
            <a:avLst/>
          </a:prstGeom>
          <a:solidFill>
            <a:srgbClr val="2251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4709160"/>
            <a:ext cx="103601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HIPAA-compliant cloud infrastructure enables 40% faster model deployment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McKinsey Global AI Survey (2024), BCG Healthcare AI Report (2024)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quick-win use cases generate $3.8M in Year 1 with payback periods under 9 months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74552" cy="18288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4" name="Text 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645920"/>
                <a:gridCol w="1371600"/>
                <a:gridCol w="1371600"/>
                <a:gridCol w="1645920"/>
                <a:gridCol w="13716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Case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Function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 Score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Y1 Impact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to Value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Clinical NLP Documentation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months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C5F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● Green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Predictive No-Show 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Cycle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$920K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months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C5F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● Green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Drug Interaction Checker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Clinical Safety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$780K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months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● Amber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Supply Chain Optimizer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Logistics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$540K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months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C5F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● Green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Claims Processing AI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$460K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months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● Amber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29768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of 12 scored use cases shown; full portfolio available in use-case-portfolio.xlsx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64465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Use case scoring matrix, industry impact benchmarks (McKinsey, BCG)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STRATEGIC PILLARS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3840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pillars to close the maturity gap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754880"/>
            <a:ext cx="3657600" cy="54864"/>
          </a:xfrm>
          <a:prstGeom prst="rect">
            <a:avLst/>
          </a:prstGeom>
          <a:solidFill>
            <a:srgbClr val="2251FF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pillars — Foundation, Scale, and Governance — sequence investments across 24 months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74552" cy="18288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4" name="Text 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 Meridian Healthcare from reactive data consumer to predictive, AI-enabled care organization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C0C0C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28800"/>
            <a:ext cx="3474720" cy="73152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574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&amp; Data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697480"/>
            <a:ext cx="109728" cy="109728"/>
          </a:xfrm>
          <a:prstGeom prst="ellipse">
            <a:avLst/>
          </a:prstGeom>
          <a:solidFill>
            <a:srgbClr val="2251F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260604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governance framework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68680" y="3246120"/>
            <a:ext cx="109728" cy="109728"/>
          </a:xfrm>
          <a:prstGeom prst="ellipse">
            <a:avLst/>
          </a:prstGeom>
          <a:solidFill>
            <a:srgbClr val="2251FF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315468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MDM implementation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68680" y="3794760"/>
            <a:ext cx="109728" cy="109728"/>
          </a:xfrm>
          <a:prstGeom prst="ellipse">
            <a:avLst/>
          </a:prstGeom>
          <a:solidFill>
            <a:srgbClr val="2251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370332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migration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46177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5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 2026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89120" y="182880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C0C0C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9120" y="1828800"/>
            <a:ext cx="3474720" cy="73152"/>
          </a:xfrm>
          <a:prstGeom prst="rect">
            <a:avLst/>
          </a:prstGeom>
          <a:solidFill>
            <a:srgbClr val="1A8A7D"/>
          </a:solidFill>
          <a:ln/>
        </p:spPr>
      </p:sp>
      <p:sp>
        <p:nvSpPr>
          <p:cNvPr id="18" name="Text 16"/>
          <p:cNvSpPr/>
          <p:nvPr/>
        </p:nvSpPr>
        <p:spPr>
          <a:xfrm>
            <a:off x="4617720" y="20574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&amp; Impact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663440" y="2697480"/>
            <a:ext cx="109728" cy="109728"/>
          </a:xfrm>
          <a:prstGeom prst="ellipse">
            <a:avLst/>
          </a:prstGeom>
          <a:solidFill>
            <a:srgbClr val="1A8A7D"/>
          </a:solidFill>
          <a:ln/>
        </p:spPr>
      </p:sp>
      <p:sp>
        <p:nvSpPr>
          <p:cNvPr id="20" name="Text 18"/>
          <p:cNvSpPr/>
          <p:nvPr/>
        </p:nvSpPr>
        <p:spPr>
          <a:xfrm>
            <a:off x="4892040" y="260604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use case deployments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63440" y="3246120"/>
            <a:ext cx="109728" cy="109728"/>
          </a:xfrm>
          <a:prstGeom prst="ellipse">
            <a:avLst/>
          </a:prstGeom>
          <a:solidFill>
            <a:srgbClr val="1A8A7D"/>
          </a:solidFill>
          <a:ln/>
        </p:spPr>
      </p:sp>
      <p:sp>
        <p:nvSpPr>
          <p:cNvPr id="22" name="Text 20"/>
          <p:cNvSpPr/>
          <p:nvPr/>
        </p:nvSpPr>
        <p:spPr>
          <a:xfrm>
            <a:off x="4892040" y="315468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MLOps pipeline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63440" y="3794760"/>
            <a:ext cx="109728" cy="109728"/>
          </a:xfrm>
          <a:prstGeom prst="ellipse">
            <a:avLst/>
          </a:prstGeom>
          <a:solidFill>
            <a:srgbClr val="1A8A7D"/>
          </a:solidFill>
          <a:ln/>
        </p:spPr>
      </p:sp>
      <p:sp>
        <p:nvSpPr>
          <p:cNvPr id="24" name="Text 22"/>
          <p:cNvSpPr/>
          <p:nvPr/>
        </p:nvSpPr>
        <p:spPr>
          <a:xfrm>
            <a:off x="4892040" y="370332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Self-service analytics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617720" y="46177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8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2026 - H1 2027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183880" y="182880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C0C0C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83880" y="1828800"/>
            <a:ext cx="3474720" cy="73152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0" y="20574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&amp; Trust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458200" y="2697480"/>
            <a:ext cx="109728" cy="10972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0" name="Text 28"/>
          <p:cNvSpPr/>
          <p:nvPr/>
        </p:nvSpPr>
        <p:spPr>
          <a:xfrm>
            <a:off x="8686800" y="260604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Responsible AI framework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458200" y="3246120"/>
            <a:ext cx="109728" cy="10972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2" name="Text 30"/>
          <p:cNvSpPr/>
          <p:nvPr/>
        </p:nvSpPr>
        <p:spPr>
          <a:xfrm>
            <a:off x="8686800" y="315468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compliance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458200" y="3794760"/>
            <a:ext cx="109728" cy="10972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4" name="Text 32"/>
          <p:cNvSpPr/>
          <p:nvPr/>
        </p:nvSpPr>
        <p:spPr>
          <a:xfrm>
            <a:off x="8686800" y="370332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monitoring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412480" y="46177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5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7200" y="64465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CDAIO Office strategic framework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deploys governance framework and 5 quick wins; Phase 2 scales to full production across 12 models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74552" cy="18288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4" name="Text 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4360" y="1097280"/>
            <a:ext cx="3474720" cy="457200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972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3291840" cy="1143000"/>
          </a:xfrm>
          <a:prstGeom prst="roundRect">
            <a:avLst>
              <a:gd name="adj" fmla="val 6400"/>
            </a:avLst>
          </a:prstGeom>
          <a:solidFill>
            <a:srgbClr val="E8EDF5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828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governance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2026, 6 stewards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3063240"/>
            <a:ext cx="3291840" cy="1143000"/>
          </a:xfrm>
          <a:prstGeom prst="roundRect">
            <a:avLst>
              <a:gd name="adj" fmla="val 6400"/>
            </a:avLst>
          </a:prstGeom>
          <a:solidFill>
            <a:srgbClr val="E8EDF5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2004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MDM platform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3611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2026, Vendor TBD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3291840" cy="1143000"/>
          </a:xfrm>
          <a:prstGeom prst="roundRect">
            <a:avLst>
              <a:gd name="adj" fmla="val 6400"/>
            </a:avLst>
          </a:prstGeom>
          <a:solidFill>
            <a:srgbClr val="E8EDF5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5720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migration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4983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2026, Azure/Databricks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89120" y="1097280"/>
            <a:ext cx="3474720" cy="457200"/>
          </a:xfrm>
          <a:prstGeom prst="rect">
            <a:avLst/>
          </a:prstGeom>
          <a:solidFill>
            <a:srgbClr val="1A8A7D"/>
          </a:solidFill>
          <a:ln/>
        </p:spPr>
      </p:sp>
      <p:sp>
        <p:nvSpPr>
          <p:cNvPr id="17" name="Text 15"/>
          <p:cNvSpPr/>
          <p:nvPr/>
        </p:nvSpPr>
        <p:spPr>
          <a:xfrm>
            <a:off x="4389120" y="10972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480560" y="1691640"/>
            <a:ext cx="3291840" cy="1143000"/>
          </a:xfrm>
          <a:prstGeom prst="roundRect">
            <a:avLst>
              <a:gd name="adj" fmla="val 6400"/>
            </a:avLst>
          </a:prstGeom>
          <a:solidFill>
            <a:srgbClr val="E8EDF5"/>
          </a:solidFill>
          <a:ln/>
        </p:spPr>
      </p:sp>
      <p:sp>
        <p:nvSpPr>
          <p:cNvPr id="19" name="Text 17"/>
          <p:cNvSpPr/>
          <p:nvPr/>
        </p:nvSpPr>
        <p:spPr>
          <a:xfrm>
            <a:off x="4617720" y="1828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NLP pilot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1772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2026, $1.1M impact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480560" y="3063240"/>
            <a:ext cx="3291840" cy="1143000"/>
          </a:xfrm>
          <a:prstGeom prst="roundRect">
            <a:avLst>
              <a:gd name="adj" fmla="val 6400"/>
            </a:avLst>
          </a:prstGeom>
          <a:solidFill>
            <a:srgbClr val="E8EDF5"/>
          </a:solidFill>
          <a:ln/>
        </p:spPr>
      </p:sp>
      <p:sp>
        <p:nvSpPr>
          <p:cNvPr id="22" name="Text 20"/>
          <p:cNvSpPr/>
          <p:nvPr/>
        </p:nvSpPr>
        <p:spPr>
          <a:xfrm>
            <a:off x="4617720" y="32004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models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617720" y="3611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2026, 3 models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480560" y="4434840"/>
            <a:ext cx="3291840" cy="1143000"/>
          </a:xfrm>
          <a:prstGeom prst="roundRect">
            <a:avLst>
              <a:gd name="adj" fmla="val 6400"/>
            </a:avLst>
          </a:prstGeom>
          <a:solidFill>
            <a:srgbClr val="E8EDF5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45720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Self-service rollout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617720" y="4983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2026, 200 users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183880" y="1097280"/>
            <a:ext cx="3474720" cy="4572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28" name="Text 26"/>
          <p:cNvSpPr/>
          <p:nvPr/>
        </p:nvSpPr>
        <p:spPr>
          <a:xfrm>
            <a:off x="8183880" y="10972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275320" y="1691640"/>
            <a:ext cx="3291840" cy="1143000"/>
          </a:xfrm>
          <a:prstGeom prst="roundRect">
            <a:avLst>
              <a:gd name="adj" fmla="val 6400"/>
            </a:avLst>
          </a:prstGeom>
          <a:solidFill>
            <a:srgbClr val="E8EDF5"/>
          </a:solidFill>
          <a:ln/>
        </p:spPr>
      </p:sp>
      <p:sp>
        <p:nvSpPr>
          <p:cNvPr id="30" name="Text 28"/>
          <p:cNvSpPr/>
          <p:nvPr/>
        </p:nvSpPr>
        <p:spPr>
          <a:xfrm>
            <a:off x="8412480" y="1828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ethics policy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41248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2026, Board review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275320" y="3063240"/>
            <a:ext cx="3291840" cy="1143000"/>
          </a:xfrm>
          <a:prstGeom prst="roundRect">
            <a:avLst>
              <a:gd name="adj" fmla="val 6400"/>
            </a:avLst>
          </a:prstGeom>
          <a:solidFill>
            <a:srgbClr val="E8EDF5"/>
          </a:solidFill>
          <a:ln/>
        </p:spPr>
      </p:sp>
      <p:sp>
        <p:nvSpPr>
          <p:cNvPr id="33" name="Text 31"/>
          <p:cNvSpPr/>
          <p:nvPr/>
        </p:nvSpPr>
        <p:spPr>
          <a:xfrm>
            <a:off x="8412480" y="32004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compliance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412480" y="3611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2026, 3 gaps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275320" y="4434840"/>
            <a:ext cx="3291840" cy="1143000"/>
          </a:xfrm>
          <a:prstGeom prst="roundRect">
            <a:avLst>
              <a:gd name="adj" fmla="val 6400"/>
            </a:avLst>
          </a:prstGeom>
          <a:solidFill>
            <a:srgbClr val="E8EDF5"/>
          </a:solidFill>
          <a:ln/>
        </p:spPr>
      </p:sp>
      <p:sp>
        <p:nvSpPr>
          <p:cNvPr id="36" name="Text 34"/>
          <p:cNvSpPr/>
          <p:nvPr/>
        </p:nvSpPr>
        <p:spPr>
          <a:xfrm>
            <a:off x="8412480" y="45720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monitoring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412480" y="4983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2026, All prod models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57200" y="64465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CDAIO implementation roadmap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IMPLEMENTATION ROADMAP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3840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Phased approach to execution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754880"/>
            <a:ext cx="3657600" cy="54864"/>
          </a:xfrm>
          <a:prstGeom prst="rect">
            <a:avLst/>
          </a:prstGeom>
          <a:solidFill>
            <a:srgbClr val="2251FF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($1.2M, H1 2026) delivers governance and quick wins before scaling in Phase 2 ($1.5M)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74552" cy="18288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4" name="Text 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4360" y="1097280"/>
            <a:ext cx="3474720" cy="73152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6" name="Shape 4"/>
          <p:cNvSpPr/>
          <p:nvPr/>
        </p:nvSpPr>
        <p:spPr>
          <a:xfrm>
            <a:off x="594360" y="1170432"/>
            <a:ext cx="3474720" cy="9144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C0C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2344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5544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5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 2026  |  $1.2M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2286000"/>
            <a:ext cx="3291840" cy="777240"/>
          </a:xfrm>
          <a:prstGeom prst="roundRect">
            <a:avLst>
              <a:gd name="adj" fmla="val 9412"/>
            </a:avLst>
          </a:prstGeom>
          <a:solidFill>
            <a:srgbClr val="E8EDF5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28600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framework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3291840"/>
            <a:ext cx="3291840" cy="777240"/>
          </a:xfrm>
          <a:prstGeom prst="roundRect">
            <a:avLst>
              <a:gd name="adj" fmla="val 9412"/>
            </a:avLst>
          </a:prstGeom>
          <a:solidFill>
            <a:srgbClr val="E8EDF5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29184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quick-win use cases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" y="4297680"/>
            <a:ext cx="3291840" cy="777240"/>
          </a:xfrm>
          <a:prstGeom prst="roundRect">
            <a:avLst>
              <a:gd name="adj" fmla="val 9412"/>
            </a:avLst>
          </a:prstGeom>
          <a:solidFill>
            <a:srgbClr val="E8EDF5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 baseline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114800" y="155448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5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89120" y="1097280"/>
            <a:ext cx="3474720" cy="73152"/>
          </a:xfrm>
          <a:prstGeom prst="rect">
            <a:avLst/>
          </a:prstGeom>
          <a:solidFill>
            <a:srgbClr val="1A8A7D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9120" y="1170432"/>
            <a:ext cx="3474720" cy="9144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C0C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72000" y="12344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15544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8A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2026 - H1 2027  |  $1.5M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480560" y="2286000"/>
            <a:ext cx="3291840" cy="777240"/>
          </a:xfrm>
          <a:prstGeom prst="roundRect">
            <a:avLst>
              <a:gd name="adj" fmla="val 9412"/>
            </a:avLst>
          </a:prstGeom>
          <a:solidFill>
            <a:srgbClr val="E8EDF5"/>
          </a:solidFill>
          <a:ln/>
        </p:spPr>
      </p:sp>
      <p:sp>
        <p:nvSpPr>
          <p:cNvPr id="21" name="Text 19"/>
          <p:cNvSpPr/>
          <p:nvPr/>
        </p:nvSpPr>
        <p:spPr>
          <a:xfrm>
            <a:off x="4663440" y="228600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to 12 models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480560" y="3291840"/>
            <a:ext cx="3291840" cy="777240"/>
          </a:xfrm>
          <a:prstGeom prst="roundRect">
            <a:avLst>
              <a:gd name="adj" fmla="val 9412"/>
            </a:avLst>
          </a:prstGeom>
          <a:solidFill>
            <a:srgbClr val="E8EDF5"/>
          </a:solidFill>
          <a:ln/>
        </p:spPr>
      </p:sp>
      <p:sp>
        <p:nvSpPr>
          <p:cNvPr id="23" name="Text 21"/>
          <p:cNvSpPr/>
          <p:nvPr/>
        </p:nvSpPr>
        <p:spPr>
          <a:xfrm>
            <a:off x="4663440" y="329184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MLOps pipeline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480560" y="4297680"/>
            <a:ext cx="3291840" cy="777240"/>
          </a:xfrm>
          <a:prstGeom prst="roundRect">
            <a:avLst>
              <a:gd name="adj" fmla="val 9412"/>
            </a:avLst>
          </a:prstGeom>
          <a:solidFill>
            <a:srgbClr val="E8EDF5"/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429768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Self-service analytics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909560" y="1554480"/>
            <a:ext cx="228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5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183880" y="1097280"/>
            <a:ext cx="3474720" cy="73152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28" name="Shape 26"/>
          <p:cNvSpPr/>
          <p:nvPr/>
        </p:nvSpPr>
        <p:spPr>
          <a:xfrm>
            <a:off x="8183880" y="1170432"/>
            <a:ext cx="3474720" cy="9144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C0C0">
                <a:alpha val="2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366760" y="12344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66760" y="15544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2027 - 2028  |  $1.4M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275320" y="2286000"/>
            <a:ext cx="3291840" cy="777240"/>
          </a:xfrm>
          <a:prstGeom prst="roundRect">
            <a:avLst>
              <a:gd name="adj" fmla="val 9412"/>
            </a:avLst>
          </a:prstGeom>
          <a:solidFill>
            <a:srgbClr val="E8EDF5"/>
          </a:solidFill>
          <a:ln/>
        </p:spPr>
      </p:sp>
      <p:sp>
        <p:nvSpPr>
          <p:cNvPr id="32" name="Text 30"/>
          <p:cNvSpPr/>
          <p:nvPr/>
        </p:nvSpPr>
        <p:spPr>
          <a:xfrm>
            <a:off x="8458200" y="228600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 use cases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275320" y="3291840"/>
            <a:ext cx="3291840" cy="777240"/>
          </a:xfrm>
          <a:prstGeom prst="roundRect">
            <a:avLst>
              <a:gd name="adj" fmla="val 9412"/>
            </a:avLst>
          </a:prstGeom>
          <a:solidFill>
            <a:srgbClr val="E8EDF5"/>
          </a:solidFill>
          <a:ln/>
        </p:spPr>
      </p:sp>
      <p:sp>
        <p:nvSpPr>
          <p:cNvPr id="34" name="Text 32"/>
          <p:cNvSpPr/>
          <p:nvPr/>
        </p:nvSpPr>
        <p:spPr>
          <a:xfrm>
            <a:off x="8458200" y="329184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analytics org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275320" y="4297680"/>
            <a:ext cx="3291840" cy="777240"/>
          </a:xfrm>
          <a:prstGeom prst="roundRect">
            <a:avLst>
              <a:gd name="adj" fmla="val 9412"/>
            </a:avLst>
          </a:prstGeom>
          <a:solidFill>
            <a:srgbClr val="E8EDF5"/>
          </a:solidFill>
          <a:ln/>
        </p:spPr>
      </p:sp>
      <p:sp>
        <p:nvSpPr>
          <p:cNvPr id="36" name="Text 34"/>
          <p:cNvSpPr/>
          <p:nvPr/>
        </p:nvSpPr>
        <p:spPr>
          <a:xfrm>
            <a:off x="8458200" y="429768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maturity target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" y="64465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CDAIO Office implementation plan, Finance team cost estimates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INVESTMENT &amp; RETURNS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3840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case and risk considerations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754880"/>
            <a:ext cx="3657600" cy="54864"/>
          </a:xfrm>
          <a:prstGeom prst="rect">
            <a:avLst/>
          </a:prstGeom>
          <a:solidFill>
            <a:srgbClr val="2251FF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$4.1M base-case investment generates $9.2M return at 2.2x ROI with breakeven at Month 18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74552" cy="18288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4" name="Text 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4360" y="1097280"/>
            <a:ext cx="3474720" cy="1463040"/>
          </a:xfrm>
          <a:prstGeom prst="roundRect">
            <a:avLst>
              <a:gd name="adj" fmla="val 6250"/>
            </a:avLst>
          </a:prstGeom>
          <a:solidFill>
            <a:srgbClr val="E8EDF5"/>
          </a:solidFill>
          <a:ln/>
        </p:spPr>
      </p:sp>
      <p:sp>
        <p:nvSpPr>
          <p:cNvPr id="6" name="Shape 4"/>
          <p:cNvSpPr/>
          <p:nvPr/>
        </p:nvSpPr>
        <p:spPr>
          <a:xfrm>
            <a:off x="3611880" y="1234440"/>
            <a:ext cx="182880" cy="18288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2801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$4.1M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19202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Investment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097280"/>
            <a:ext cx="3474720" cy="1463040"/>
          </a:xfrm>
          <a:prstGeom prst="roundRect">
            <a:avLst>
              <a:gd name="adj" fmla="val 6250"/>
            </a:avLst>
          </a:prstGeom>
          <a:solidFill>
            <a:srgbClr val="E8EDF5"/>
          </a:solidFill>
          <a:ln/>
        </p:spPr>
      </p:sp>
      <p:sp>
        <p:nvSpPr>
          <p:cNvPr id="10" name="Shape 8"/>
          <p:cNvSpPr/>
          <p:nvPr/>
        </p:nvSpPr>
        <p:spPr>
          <a:xfrm>
            <a:off x="7406640" y="1234440"/>
            <a:ext cx="182880" cy="18288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12801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$9.2M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617720" y="19202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Return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83880" y="1097280"/>
            <a:ext cx="3474720" cy="1463040"/>
          </a:xfrm>
          <a:prstGeom prst="roundRect">
            <a:avLst>
              <a:gd name="adj" fmla="val 6250"/>
            </a:avLst>
          </a:prstGeom>
          <a:solidFill>
            <a:srgbClr val="E8EDF5"/>
          </a:solidFill>
          <a:ln/>
        </p:spPr>
      </p:sp>
      <p:sp>
        <p:nvSpPr>
          <p:cNvPr id="14" name="Shape 12"/>
          <p:cNvSpPr/>
          <p:nvPr/>
        </p:nvSpPr>
        <p:spPr>
          <a:xfrm>
            <a:off x="11201400" y="1234440"/>
            <a:ext cx="182880" cy="18288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0" y="12801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2.2x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412480" y="19202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3017520"/>
          <a:ext cx="94457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828800"/>
                <a:gridCol w="137160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Investment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3-Year Return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Breakeven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Conservative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$3.4M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$5.8M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 months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$4.1M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$9.2M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months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Aggressive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$4.8M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$13.5M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months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57200" y="64465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Investment case model, Finance team validation, industry benchmarks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risk categories require active mitigation: regulatory compliance, talent acquisition, and data quality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74552" cy="18288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4" name="Text 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RISKS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8EDF5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783080"/>
            <a:ext cx="182880" cy="18288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709928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HIPAA &amp; EU AI Act Compliance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10312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counsel + dedicated compliance team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8EDF5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3246120"/>
            <a:ext cx="182880" cy="18288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172968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Science Talent Gap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56616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 8 FTEs + upskill 20 existing staff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452628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8EDF5"/>
          </a:solidFill>
          <a:ln/>
        </p:spPr>
      </p:sp>
      <p:sp>
        <p:nvSpPr>
          <p:cNvPr id="15" name="Shape 13"/>
          <p:cNvSpPr/>
          <p:nvPr/>
        </p:nvSpPr>
        <p:spPr>
          <a:xfrm>
            <a:off x="731520" y="4709160"/>
            <a:ext cx="182880" cy="18288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636008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 Baseline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502920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monitoring across 12 domains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FRAMEWORK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92240" y="16002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C0C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0" y="1600200"/>
            <a:ext cx="54864" cy="1234440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21" name="Text 19"/>
          <p:cNvSpPr/>
          <p:nvPr/>
        </p:nvSpPr>
        <p:spPr>
          <a:xfrm>
            <a:off x="6720840" y="17830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Ethics Board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720840" y="214884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review, cross-functional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92240" y="306324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C0C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92240" y="3063240"/>
            <a:ext cx="54864" cy="1234440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32461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Risk Management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720840" y="36118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Pre-deployment validation gate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452628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5400" dist="12700" dir="16200000">
              <a:srgbClr val="C0C0C0">
                <a:alpha val="2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92240" y="4526280"/>
            <a:ext cx="54864" cy="1234440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29" name="Text 27"/>
          <p:cNvSpPr/>
          <p:nvPr/>
        </p:nvSpPr>
        <p:spPr>
          <a:xfrm>
            <a:off x="6720840" y="470916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Monitoring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720840" y="507492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HIPAA/EU AI Act tracking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Risk assessment, regulatory landscape analysis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KPIs will track program success with quarterly reporting to the Board starting Q2 2026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74552" cy="18288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4" name="Text 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4360" y="1143000"/>
            <a:ext cx="3474720" cy="2194560"/>
          </a:xfrm>
          <a:prstGeom prst="roundRect">
            <a:avLst>
              <a:gd name="adj" fmla="val 4167"/>
            </a:avLst>
          </a:prstGeom>
          <a:solidFill>
            <a:srgbClr val="E8EDF5"/>
          </a:solidFill>
          <a:ln/>
        </p:spPr>
      </p:sp>
      <p:sp>
        <p:nvSpPr>
          <p:cNvPr id="6" name="Shape 4"/>
          <p:cNvSpPr/>
          <p:nvPr/>
        </p:nvSpPr>
        <p:spPr>
          <a:xfrm>
            <a:off x="3611880" y="1280160"/>
            <a:ext cx="201168" cy="20116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280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Maturity Score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173736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19659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965960" y="173736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Y1 Target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965960" y="19659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2.8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154680" y="17373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Y3 Target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54680" y="19659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3.5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22960" y="2560320"/>
            <a:ext cx="301752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2560320"/>
            <a:ext cx="1896727" cy="109728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29260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Green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9120" y="1143000"/>
            <a:ext cx="3474720" cy="2194560"/>
          </a:xfrm>
          <a:prstGeom prst="roundRect">
            <a:avLst>
              <a:gd name="adj" fmla="val 4167"/>
            </a:avLst>
          </a:prstGeom>
          <a:solidFill>
            <a:srgbClr val="E8EDF5"/>
          </a:solidFill>
          <a:ln/>
        </p:spPr>
      </p:sp>
      <p:sp>
        <p:nvSpPr>
          <p:cNvPr id="18" name="Shape 16"/>
          <p:cNvSpPr/>
          <p:nvPr/>
        </p:nvSpPr>
        <p:spPr>
          <a:xfrm>
            <a:off x="7406640" y="1280160"/>
            <a:ext cx="201168" cy="20116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0" y="1280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Value Delivered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0" y="173736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0" y="19659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$0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760720" y="173736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Y1 Target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760720" y="19659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$3.8M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949440" y="17373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Y3 Target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949440" y="19659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$9.2M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4617720" y="2560320"/>
            <a:ext cx="301752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4617720" y="2560320"/>
            <a:ext cx="0" cy="109728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0" y="29260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Green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183880" y="1143000"/>
            <a:ext cx="3474720" cy="2194560"/>
          </a:xfrm>
          <a:prstGeom prst="roundRect">
            <a:avLst>
              <a:gd name="adj" fmla="val 4167"/>
            </a:avLst>
          </a:prstGeom>
          <a:solidFill>
            <a:srgbClr val="E8EDF5"/>
          </a:solidFill>
          <a:ln/>
        </p:spPr>
      </p:sp>
      <p:sp>
        <p:nvSpPr>
          <p:cNvPr id="30" name="Shape 28"/>
          <p:cNvSpPr/>
          <p:nvPr/>
        </p:nvSpPr>
        <p:spPr>
          <a:xfrm>
            <a:off x="11201400" y="1280160"/>
            <a:ext cx="201168" cy="20116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1" name="Text 29"/>
          <p:cNvSpPr/>
          <p:nvPr/>
        </p:nvSpPr>
        <p:spPr>
          <a:xfrm>
            <a:off x="8366760" y="1280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in Production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366760" y="173736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66760" y="19659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555480" y="173736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Y1 Target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555480" y="196596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0744200" y="17373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Y3 Target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0744200" y="19659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20+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8412480" y="2560320"/>
            <a:ext cx="301752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Shape 37"/>
          <p:cNvSpPr/>
          <p:nvPr/>
        </p:nvSpPr>
        <p:spPr>
          <a:xfrm>
            <a:off x="8412480" y="2560320"/>
            <a:ext cx="301752" cy="109728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40" name="Text 38"/>
          <p:cNvSpPr/>
          <p:nvPr/>
        </p:nvSpPr>
        <p:spPr>
          <a:xfrm>
            <a:off x="8366760" y="29260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Green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94360" y="3611880"/>
            <a:ext cx="3474720" cy="2194560"/>
          </a:xfrm>
          <a:prstGeom prst="roundRect">
            <a:avLst>
              <a:gd name="adj" fmla="val 4167"/>
            </a:avLst>
          </a:prstGeom>
          <a:solidFill>
            <a:srgbClr val="E8EDF5"/>
          </a:solidFill>
          <a:ln/>
        </p:spPr>
      </p:sp>
      <p:sp>
        <p:nvSpPr>
          <p:cNvPr id="42" name="Shape 40"/>
          <p:cNvSpPr/>
          <p:nvPr/>
        </p:nvSpPr>
        <p:spPr>
          <a:xfrm>
            <a:off x="3611880" y="3749040"/>
            <a:ext cx="201168" cy="201168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43" name="Text 41"/>
          <p:cNvSpPr/>
          <p:nvPr/>
        </p:nvSpPr>
        <p:spPr>
          <a:xfrm>
            <a:off x="777240" y="3749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 Score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77240" y="420624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7240" y="44348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72%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965960" y="420624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Y1 Target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965960" y="44348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85%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3154680" y="42062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Y3 Target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154680" y="44348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95%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822960" y="5029200"/>
            <a:ext cx="301752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Shape 49"/>
          <p:cNvSpPr/>
          <p:nvPr/>
        </p:nvSpPr>
        <p:spPr>
          <a:xfrm>
            <a:off x="822960" y="5029200"/>
            <a:ext cx="2286963" cy="109728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52" name="Text 50"/>
          <p:cNvSpPr/>
          <p:nvPr/>
        </p:nvSpPr>
        <p:spPr>
          <a:xfrm>
            <a:off x="777240" y="5394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Amber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389120" y="3611880"/>
            <a:ext cx="3474720" cy="2194560"/>
          </a:xfrm>
          <a:prstGeom prst="roundRect">
            <a:avLst>
              <a:gd name="adj" fmla="val 4167"/>
            </a:avLst>
          </a:prstGeom>
          <a:solidFill>
            <a:srgbClr val="E8EDF5"/>
          </a:solidFill>
          <a:ln/>
        </p:spPr>
      </p:sp>
      <p:sp>
        <p:nvSpPr>
          <p:cNvPr id="54" name="Shape 52"/>
          <p:cNvSpPr/>
          <p:nvPr/>
        </p:nvSpPr>
        <p:spPr>
          <a:xfrm>
            <a:off x="7406640" y="3749040"/>
            <a:ext cx="201168" cy="201168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55" name="Text 53"/>
          <p:cNvSpPr/>
          <p:nvPr/>
        </p:nvSpPr>
        <p:spPr>
          <a:xfrm>
            <a:off x="4572000" y="3749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 Adoption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4572000" y="420624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4572000" y="44348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5760720" y="420624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Y1 Target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5760720" y="44348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25%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6949440" y="42062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Y3 Target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6949440" y="44348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40%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4617720" y="5029200"/>
            <a:ext cx="301752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4617720" y="5029200"/>
            <a:ext cx="377190" cy="109728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64" name="Text 62"/>
          <p:cNvSpPr/>
          <p:nvPr/>
        </p:nvSpPr>
        <p:spPr>
          <a:xfrm>
            <a:off x="4572000" y="5394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Amber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8183880" y="3611880"/>
            <a:ext cx="3474720" cy="2194560"/>
          </a:xfrm>
          <a:prstGeom prst="roundRect">
            <a:avLst>
              <a:gd name="adj" fmla="val 4167"/>
            </a:avLst>
          </a:prstGeom>
          <a:solidFill>
            <a:srgbClr val="E8EDF5"/>
          </a:solidFill>
          <a:ln/>
        </p:spPr>
      </p:sp>
      <p:sp>
        <p:nvSpPr>
          <p:cNvPr id="66" name="Shape 64"/>
          <p:cNvSpPr/>
          <p:nvPr/>
        </p:nvSpPr>
        <p:spPr>
          <a:xfrm>
            <a:off x="11201400" y="3749040"/>
            <a:ext cx="201168" cy="2011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7" name="Text 65"/>
          <p:cNvSpPr/>
          <p:nvPr/>
        </p:nvSpPr>
        <p:spPr>
          <a:xfrm>
            <a:off x="8366760" y="3749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Compliance</a:t>
            </a:r>
            <a:endParaRPr lang="en-US" sz="1400" dirty="0"/>
          </a:p>
        </p:txBody>
      </p:sp>
      <p:sp>
        <p:nvSpPr>
          <p:cNvPr id="68" name="Text 66"/>
          <p:cNvSpPr/>
          <p:nvPr/>
        </p:nvSpPr>
        <p:spPr>
          <a:xfrm>
            <a:off x="8366760" y="420624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8366760" y="44348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30%</a:t>
            </a:r>
            <a:endParaRPr lang="en-US" sz="1800" dirty="0"/>
          </a:p>
        </p:txBody>
      </p:sp>
      <p:sp>
        <p:nvSpPr>
          <p:cNvPr id="70" name="Text 68"/>
          <p:cNvSpPr/>
          <p:nvPr/>
        </p:nvSpPr>
        <p:spPr>
          <a:xfrm>
            <a:off x="9555480" y="420624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Y1 Target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9555480" y="44348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75%</a:t>
            </a:r>
            <a:endParaRPr lang="en-US" sz="1800" dirty="0"/>
          </a:p>
        </p:txBody>
      </p:sp>
      <p:sp>
        <p:nvSpPr>
          <p:cNvPr id="72" name="Text 70"/>
          <p:cNvSpPr/>
          <p:nvPr/>
        </p:nvSpPr>
        <p:spPr>
          <a:xfrm>
            <a:off x="10744200" y="42062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Y3 Target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10744200" y="44348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95%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8412480" y="5029200"/>
            <a:ext cx="301752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5" name="Shape 73"/>
          <p:cNvSpPr/>
          <p:nvPr/>
        </p:nvSpPr>
        <p:spPr>
          <a:xfrm>
            <a:off x="8412480" y="5029200"/>
            <a:ext cx="952901" cy="109728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76" name="Text 74"/>
          <p:cNvSpPr/>
          <p:nvPr/>
        </p:nvSpPr>
        <p:spPr>
          <a:xfrm>
            <a:off x="8366760" y="5394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Red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457200" y="64465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CDAIO Office measurement framework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recommended actions position Meridian for $3.8M Year 1 value capture starting Q2 2026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74552" cy="18288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4" name="Text 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4360" y="1097280"/>
            <a:ext cx="11000232" cy="1417320"/>
          </a:xfrm>
          <a:prstGeom prst="roundRect">
            <a:avLst>
              <a:gd name="adj" fmla="val 6452"/>
            </a:avLst>
          </a:prstGeom>
          <a:solidFill>
            <a:srgbClr val="E8EDF5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554480"/>
            <a:ext cx="502920" cy="502920"/>
          </a:xfrm>
          <a:prstGeom prst="ellipse">
            <a:avLst/>
          </a:prstGeom>
          <a:solidFill>
            <a:srgbClr val="2251F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00200" y="1234440"/>
            <a:ext cx="96286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$1.2M Phase 1 budget for governance foundation and 5 quick-win use cases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00200" y="1920240"/>
            <a:ext cx="96286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CFO</a:t>
            </a:r>
            <a:pPr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Timeline: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2026</a:t>
            </a:r>
            <a:pPr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Impact: </a:t>
            </a:r>
            <a:pPr indent="0" marL="0">
              <a:buNone/>
            </a:pPr>
            <a:r>
              <a:rPr lang="en-US" sz="1100" b="1" dirty="0">
                <a:solidFill>
                  <a:srgbClr val="225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$3.8M Y1 value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2697480"/>
            <a:ext cx="11000232" cy="1417320"/>
          </a:xfrm>
          <a:prstGeom prst="roundRect">
            <a:avLst>
              <a:gd name="adj" fmla="val 6452"/>
            </a:avLst>
          </a:prstGeom>
          <a:solidFill>
            <a:srgbClr val="E8EDF5"/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3154680"/>
            <a:ext cx="502920" cy="502920"/>
          </a:xfrm>
          <a:prstGeom prst="ellipse">
            <a:avLst/>
          </a:prstGeom>
          <a:solidFill>
            <a:srgbClr val="2251FF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154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600200" y="2834640"/>
            <a:ext cx="96286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Appoint Chief Data &amp; AI Officer with direct CEO reporting line and cross-functional mandate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600200" y="3520440"/>
            <a:ext cx="96286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</a:t>
            </a:r>
            <a:pPr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Timeline: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2026</a:t>
            </a:r>
            <a:pPr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Impact: </a:t>
            </a:r>
            <a:pPr indent="0" marL="0">
              <a:buNone/>
            </a:pPr>
            <a:r>
              <a:rPr lang="en-US" sz="1100" b="1" dirty="0">
                <a:solidFill>
                  <a:srgbClr val="225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Accelerates execution by 40%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4297680"/>
            <a:ext cx="11000232" cy="1417320"/>
          </a:xfrm>
          <a:prstGeom prst="roundRect">
            <a:avLst>
              <a:gd name="adj" fmla="val 6452"/>
            </a:avLst>
          </a:prstGeom>
          <a:solidFill>
            <a:srgbClr val="E8EDF5"/>
          </a:solidFill>
          <a:ln/>
        </p:spPr>
      </p:sp>
      <p:sp>
        <p:nvSpPr>
          <p:cNvPr id="16" name="Shape 14"/>
          <p:cNvSpPr/>
          <p:nvPr/>
        </p:nvSpPr>
        <p:spPr>
          <a:xfrm>
            <a:off x="822960" y="4754880"/>
            <a:ext cx="502920" cy="502920"/>
          </a:xfrm>
          <a:prstGeom prst="ellipse">
            <a:avLst/>
          </a:prstGeom>
          <a:solidFill>
            <a:srgbClr val="2251FF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4434840"/>
            <a:ext cx="96286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data governance framework with 6 domain stewards across clinical and operational data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00200" y="5120640"/>
            <a:ext cx="96286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CDAIO</a:t>
            </a:r>
            <a:pPr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Timeline: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2026</a:t>
            </a:r>
            <a:pPr indent="0" marL="0">
              <a:buNone/>
            </a:pPr>
            <a:r>
              <a:rPr lang="en-US" sz="11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Impact: </a:t>
            </a:r>
            <a:pPr indent="0" marL="0">
              <a:buNone/>
            </a:pPr>
            <a:r>
              <a:rPr lang="en-US" sz="1100" b="1" dirty="0">
                <a:solidFill>
                  <a:srgbClr val="225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Closes 3 regulatory gaps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CDAIO Office strategic recommendations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HEALTHCARE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&amp; Data Strategy 2026-2028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722876" y="3383280"/>
            <a:ext cx="2743200" cy="54864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84048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of the CDAIO  |  Confidential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Meridian Healthcare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Meridian Healthcare - AI Strategy Summary</dc:title>
  <dc:subject>AI &amp; Data Strategy 2026-2028</dc:subject>
  <dc:creator>Office of the CDAIO</dc:creator>
  <cp:lastModifiedBy>Office of the CDAIO</cp:lastModifiedBy>
  <cp:revision>1</cp:revision>
  <dcterms:created xsi:type="dcterms:W3CDTF">2026-03-13T15:04:17Z</dcterms:created>
  <dcterms:modified xsi:type="dcterms:W3CDTF">2026-03-13T15:04:17Z</dcterms:modified>
</cp:coreProperties>
</file>