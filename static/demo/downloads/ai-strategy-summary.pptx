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CORPORATION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286000" cy="54864"/>
          </a:xfrm>
          <a:prstGeom prst="rect">
            <a:avLst/>
          </a:prstGeom>
          <a:solidFill>
            <a:srgbClr val="2251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Data Strategy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2026-2028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Roadmap  |  March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Data &amp; AI Officer  |  Office of the CDAIO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02952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2D4A7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 of $4.2M over 3 years will generate $18.7M in validated returns across 12 prioritized use cases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" cy="109728"/>
          </a:xfrm>
          <a:prstGeom prst="ellipse">
            <a:avLst/>
          </a:prstGeom>
          <a:solidFill>
            <a:srgbClr val="2251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954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maturity score of 2.1/5.0 positions the organization at the Developing stage, trailing industry leaders by 1.8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2251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10954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use cases identified across 4 business functions, with 5 quick wins delivering $3.2M in Year 1 alone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2251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10954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framework implementation in Q2 2026 addresses 3 regulatory gaps and reduces compliance risk by 60%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CDAIO Office analysis, maturity assessment, use case scoring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25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STATE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 today across 6 maturity dimensions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1371600" cy="45720"/>
          </a:xfrm>
          <a:prstGeom prst="rect">
            <a:avLst/>
          </a:prstGeom>
          <a:solidFill>
            <a:srgbClr val="2251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scores 2.1/5.0 overall, with Data Governance and AI/ML Ops as the widest gaps to close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Maturity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3.9 leaders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05784" y="233172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8892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3.5 by 2028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1584" y="114300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11" name="Text 9"/>
          <p:cNvSpPr/>
          <p:nvPr/>
        </p:nvSpPr>
        <p:spPr>
          <a:xfrm>
            <a:off x="4428744" y="128016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28744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28744" y="233172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-2.1 gap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40168" y="233172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428744" y="278892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3.5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25968" y="114300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63128" y="128016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63128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63128" y="233172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 gap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274552" y="233172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8263128" y="278892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3.5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52044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94360" y="420624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Capability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5720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-0.9 gap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05784" y="457200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502920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3.5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1584" y="338328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29" name="Text 27"/>
          <p:cNvSpPr/>
          <p:nvPr/>
        </p:nvSpPr>
        <p:spPr>
          <a:xfrm>
            <a:off x="4428744" y="352044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428744" y="420624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Operations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28744" y="45720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 gap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40168" y="457200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3" name="Text 31"/>
          <p:cNvSpPr/>
          <p:nvPr/>
        </p:nvSpPr>
        <p:spPr>
          <a:xfrm>
            <a:off x="4428744" y="502920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3.5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25968" y="338328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35" name="Text 33"/>
          <p:cNvSpPr/>
          <p:nvPr/>
        </p:nvSpPr>
        <p:spPr>
          <a:xfrm>
            <a:off x="8263128" y="352044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263128" y="420624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Culture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63128" y="45720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 gap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274552" y="457200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9" name="Text 37"/>
          <p:cNvSpPr/>
          <p:nvPr/>
        </p:nvSpPr>
        <p:spPr>
          <a:xfrm>
            <a:off x="8263128" y="502920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3.5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CDAIO maturity assessment, industry benchmarks (McKinsey, 2024)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25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phased approach to AI-driven transformation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1371600" cy="45720"/>
          </a:xfrm>
          <a:prstGeom prst="rect">
            <a:avLst/>
          </a:prstGeom>
          <a:solidFill>
            <a:srgbClr val="2251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 move the organization from 2.1 to 3.5 maturity, with 5 quick wins delivering value in Year 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575304" cy="45720"/>
          </a:xfrm>
          <a:prstGeom prst="rect">
            <a:avLst/>
          </a:prstGeom>
          <a:solidFill>
            <a:srgbClr val="2251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governance framework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(Q2 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5 quick-win use cases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($3.2M Y1 value)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data quality program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(87% to 95% target)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6824" y="1097280"/>
            <a:ext cx="3575304" cy="4572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24" y="123444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06824" y="1554480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2026 - H1 2027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98264" y="201168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4489704" y="210312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12 production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98264" y="310896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9704" y="320040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MLOps pipeline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(CI/CD for models)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98264" y="420624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21" name="Text 19"/>
          <p:cNvSpPr/>
          <p:nvPr/>
        </p:nvSpPr>
        <p:spPr>
          <a:xfrm>
            <a:off x="4489704" y="429768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3.0 maturity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(+0.9 from baseline)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1097280"/>
            <a:ext cx="3575304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156448" y="123444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Optimize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56448" y="1554480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2027 - 2028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47888" y="201168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210312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20+ use cases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47888" y="310896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28" name="Text 26"/>
          <p:cNvSpPr/>
          <p:nvPr/>
        </p:nvSpPr>
        <p:spPr>
          <a:xfrm>
            <a:off x="8339328" y="320040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analytics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(40% adoption target)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47888" y="4206240"/>
            <a:ext cx="3392424" cy="9144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/>
        </p:spPr>
      </p:sp>
      <p:sp>
        <p:nvSpPr>
          <p:cNvPr id="30" name="Text 28"/>
          <p:cNvSpPr/>
          <p:nvPr/>
        </p:nvSpPr>
        <p:spPr>
          <a:xfrm>
            <a:off x="8339328" y="429768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3.5 maturity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(industry average)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CDAIO Office strategic plan, use case scoring matrix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quick-win use cases generate $3.2M in Year 1 with payback periods under 9 months each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828800"/>
                <a:gridCol w="1645920"/>
                <a:gridCol w="1645920"/>
                <a:gridCol w="17647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 Customer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Churn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Detection 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Pricing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 Optimizer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Use case scoring matrix, financial projections (Finance team)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 three-year investment delivers 4.5x ROI with breakeven in Month 14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605784" cy="3200400"/>
          </a:xfrm>
          <a:prstGeom prst="roundRect">
            <a:avLst>
              <a:gd name="adj" fmla="val 2286"/>
            </a:avLst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budget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05784" y="283464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88620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Approved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1584" y="1143000"/>
            <a:ext cx="3605784" cy="3200400"/>
          </a:xfrm>
          <a:prstGeom prst="roundRect">
            <a:avLst>
              <a:gd name="adj" fmla="val 2286"/>
            </a:avLst>
          </a:prstGeom>
          <a:solidFill>
            <a:srgbClr val="E8EDF5"/>
          </a:solidFill>
          <a:ln/>
        </p:spPr>
      </p:sp>
      <p:sp>
        <p:nvSpPr>
          <p:cNvPr id="11" name="Text 9"/>
          <p:cNvSpPr/>
          <p:nvPr/>
        </p:nvSpPr>
        <p:spPr>
          <a:xfrm>
            <a:off x="4428744" y="132588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$18.7M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28744" y="233172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Returns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28744" y="283464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4.5x ROI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40168" y="283464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428744" y="388620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$15M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25968" y="1143000"/>
            <a:ext cx="3605784" cy="3200400"/>
          </a:xfrm>
          <a:prstGeom prst="roundRect">
            <a:avLst>
              <a:gd name="adj" fmla="val 2286"/>
            </a:avLst>
          </a:prstGeom>
          <a:solidFill>
            <a:srgbClr val="E8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63128" y="132588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mo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63128" y="233172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3128" y="283464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274552" y="283464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63128" y="388620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&lt;18 months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Investment case model, Finance team validation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2026-03-13T14:35:55Z</dcterms:created>
  <dcterms:modified xsi:type="dcterms:W3CDTF">2026-03-13T14:35:55Z</dcterms:modified>
</cp:coreProperties>
</file>