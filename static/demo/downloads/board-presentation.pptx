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CORPORATION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2286000" cy="54864"/>
          </a:xfrm>
          <a:prstGeom prst="rect">
            <a:avLst/>
          </a:prstGeom>
          <a:solidFill>
            <a:srgbClr val="2251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Data, Analytics &amp; AI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Board 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 |  March 13,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Data &amp; AI Officer  |  Office of the CDAIO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02952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88552" y="0"/>
            <a:ext cx="3200400" cy="6858000"/>
          </a:xfrm>
          <a:prstGeom prst="rect">
            <a:avLst/>
          </a:prstGeom>
          <a:solidFill>
            <a:srgbClr val="2D4A7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program delivers $2.4M in validated savings while three initiatives require timeline acceleration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09728" cy="109728"/>
          </a:xfrm>
          <a:prstGeom prst="ellipse">
            <a:avLst/>
          </a:prstGeom>
          <a:solidFill>
            <a:srgbClr val="2251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954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 models reduced procurement spend by 18% against 15% target, generating $1.2M in Q1 alone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2251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10954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prediction prevented $800K in revenue attrition with 88.7% model accuracy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09728" cy="109728"/>
          </a:xfrm>
          <a:prstGeom prst="ellipse">
            <a:avLst/>
          </a:prstGeom>
          <a:solidFill>
            <a:srgbClr val="2251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51760"/>
            <a:ext cx="10954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documentation assistant reduced engineering onboarding time by 35%, saving 2,300 hours per quarter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Finance &amp; Operations teams, Q1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6 key metrics are on track; data quality score requires acceleration to meet 95% target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$2.4M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Value Delivered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QoQ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05784" y="233172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78892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$2.0M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1584" y="114300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11" name="Text 9"/>
          <p:cNvSpPr/>
          <p:nvPr/>
        </p:nvSpPr>
        <p:spPr>
          <a:xfrm>
            <a:off x="4428744" y="128016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28744" y="196596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Adoption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28744" y="233172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QoQ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40168" y="233172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428744" y="278892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40%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25968" y="114300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63128" y="128016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98.2%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63128" y="196596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Uptime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63128" y="233172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274552" y="233172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8263128" y="278892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99.0%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52044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156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94360" y="420624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in Production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57200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 new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05784" y="457200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502920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150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1584" y="338328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29" name="Text 27"/>
          <p:cNvSpPr/>
          <p:nvPr/>
        </p:nvSpPr>
        <p:spPr>
          <a:xfrm>
            <a:off x="4428744" y="352044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428744" y="420624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NPS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28744" y="457200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-0.3 QoQ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40168" y="4572000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4428744" y="502920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4.5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25968" y="3383280"/>
            <a:ext cx="3605784" cy="2011680"/>
          </a:xfrm>
          <a:prstGeom prst="roundRect">
            <a:avLst>
              <a:gd name="adj" fmla="val 3636"/>
            </a:avLst>
          </a:prstGeom>
          <a:solidFill>
            <a:srgbClr val="E8EDF5"/>
          </a:solidFill>
          <a:ln/>
        </p:spPr>
      </p:sp>
      <p:sp>
        <p:nvSpPr>
          <p:cNvPr id="35" name="Text 33"/>
          <p:cNvSpPr/>
          <p:nvPr/>
        </p:nvSpPr>
        <p:spPr>
          <a:xfrm>
            <a:off x="8263128" y="3520440"/>
            <a:ext cx="3331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263128" y="420624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Score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63128" y="457200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 QoQ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1274552" y="457200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9" name="Text 37"/>
          <p:cNvSpPr/>
          <p:nvPr/>
        </p:nvSpPr>
        <p:spPr>
          <a:xfrm>
            <a:off x="8263128" y="502920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95%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Internal dashboards, Q1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25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&amp; GOVERNANCE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status and risk mitigation progress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1371600" cy="45720"/>
          </a:xfrm>
          <a:prstGeom prst="rect">
            <a:avLst/>
          </a:prstGeom>
          <a:solidFill>
            <a:srgbClr val="2251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5 governance initiatives are on track; EU AI Act compliance and data quality require Board attention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E8EDF5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1645920"/>
                <a:gridCol w="1645920"/>
                <a:gridCol w="249631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governance 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 of Governance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AI Act compliance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 Officer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risk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AI/ML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quality program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Steward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access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Custodian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Governance office, compliance tracking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is asked to approve $1.8M incremental budget for EU AI Act compliance and accelerated data quality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8EDF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5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$1.2M for EU AI Act compliance program: 2 FTEs + external counsel + tool licensing to close 3 regulatory gaps by Q3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8EDF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94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5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214884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$600K for data quality acceleration: automated monitoring infrastructure to move from 87% to 95% quality score by Q4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8ED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089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5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88720" y="306324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Endorsement of Q2 2026 governance framework launch, positioning the organization ahead of 78% of industry peers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CDAIO Office, Finance team cost estimates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2286000"/>
            <a:ext cx="85313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999999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BACKUP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model performance data supports the AI value calculation methodology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74552" cy="18288"/>
          </a:xfrm>
          <a:prstGeom prst="rect">
            <a:avLst/>
          </a:prstGeom>
          <a:solidFill>
            <a:srgbClr val="E8EDF5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371600"/>
                <a:gridCol w="1828800"/>
                <a:gridCol w="350215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Est.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Procurement Optimizer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Churn Predictor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Forecaster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Series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 Assistant (GenAI)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Value calculated using controlled A/B tests where available, or pre/post comparison with 30-day baseline. All figures validated by Finance.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AI/ML Platform, Finance validation, Q1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2026-03-13T14:35:55Z</dcterms:created>
  <dcterms:modified xsi:type="dcterms:W3CDTF">2026-03-13T14:35:55Z</dcterms:modified>
</cp:coreProperties>
</file>