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HEALTHCARE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14300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6304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Data, Analytics &amp; AI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Board Update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 |  March 13, 2026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Data &amp; AI Officer  |  Office of the CDAIO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902952" y="63093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program delivered $2.4M in validated savings in Q1 while three governance gaps require Board 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" y="128016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430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delivered $2.4M in AI value against $2.0M target, driven by procurement optimization ($1.2M) and churn prediction ($800K)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19456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574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governance gaps threaten Q2 targets: EU AI Act compliance at 40%, data quality at 87% vs 95% target, steward coverage at 40%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3108960"/>
            <a:ext cx="164592" cy="164592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971800"/>
            <a:ext cx="6858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approval of $1.8M incremental investment enables compliance remediation ($1.2M) and quality automation ($600K) by Q3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46720" y="1143000"/>
            <a:ext cx="3657600" cy="3108960"/>
          </a:xfrm>
          <a:prstGeom prst="roundRect">
            <a:avLst>
              <a:gd name="adj" fmla="val 2941"/>
            </a:avLst>
          </a:prstGeom>
          <a:solidFill>
            <a:srgbClr val="E8EDF5"/>
          </a:solidFill>
          <a:ln/>
        </p:spPr>
      </p:sp>
      <p:sp>
        <p:nvSpPr>
          <p:cNvPr id="11" name="Shape 9"/>
          <p:cNvSpPr/>
          <p:nvPr/>
        </p:nvSpPr>
        <p:spPr>
          <a:xfrm>
            <a:off x="8046720" y="1143000"/>
            <a:ext cx="54864" cy="310896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1280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5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NUMBERS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75320" y="16916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$2.4M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275320" y="1965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value delivered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2286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156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275320" y="25603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in production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75320" y="28803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42%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adoption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75320" y="34747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$1.8M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75320" y="37490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ask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Finance &amp; Operations teams, Q1 2026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topics for Board discussion span performance, initiatives, risk, budget, and decisions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28016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463040" y="1325880"/>
            <a:ext cx="36576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6" name="Text 4"/>
          <p:cNvSpPr/>
          <p:nvPr/>
        </p:nvSpPr>
        <p:spPr>
          <a:xfrm>
            <a:off x="1737360" y="1280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Dashboard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37360" y="16002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tracking and trend analysis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1463040" y="2286000"/>
            <a:ext cx="36576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0" name="Text 8"/>
          <p:cNvSpPr/>
          <p:nvPr/>
        </p:nvSpPr>
        <p:spPr>
          <a:xfrm>
            <a:off x="1737360" y="22402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Portfolio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737360" y="2560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of active data &amp; AI initiatives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320040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1463040" y="3246120"/>
            <a:ext cx="36576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32004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Landscape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37360" y="35204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risks and mitigation status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1463040" y="4206240"/>
            <a:ext cx="36576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18" name="Text 16"/>
          <p:cNvSpPr/>
          <p:nvPr/>
        </p:nvSpPr>
        <p:spPr>
          <a:xfrm>
            <a:off x="173736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&amp; Investment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737360" y="44805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position and incremental funding request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120640"/>
            <a:ext cx="731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1463040" y="5166360"/>
            <a:ext cx="36576" cy="457200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22" name="Text 20"/>
          <p:cNvSpPr/>
          <p:nvPr/>
        </p:nvSpPr>
        <p:spPr>
          <a:xfrm>
            <a:off x="1737360" y="51206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Decisions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37360" y="54406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approval requests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80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PERFORMANCE DASHBOARD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tracking and trend analysis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of 8 KPIs are on track; data quality (87%) and steward coverage (40%) require acceleration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5" name="Shape 3"/>
          <p:cNvSpPr/>
          <p:nvPr/>
        </p:nvSpPr>
        <p:spPr>
          <a:xfrm>
            <a:off x="2772918" y="123444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2070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Value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94360" y="15544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$2.4M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94360" y="21488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 vs target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$2.0M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321558" y="10972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11" name="Shape 9"/>
          <p:cNvSpPr/>
          <p:nvPr/>
        </p:nvSpPr>
        <p:spPr>
          <a:xfrm>
            <a:off x="5637276" y="123444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458718" y="12070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Adoption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58718" y="15544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42%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458718" y="21488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+5% QoQ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58718" y="25146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40%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85916" y="10972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1634" y="12344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18" name="Text 16"/>
          <p:cNvSpPr/>
          <p:nvPr/>
        </p:nvSpPr>
        <p:spPr>
          <a:xfrm>
            <a:off x="6323076" y="12070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Uptime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23076" y="15544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98.2%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323076" y="21488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-0.3% QoQ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23076" y="25146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99.0%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050274" y="10972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23" name="Shape 21"/>
          <p:cNvSpPr/>
          <p:nvPr/>
        </p:nvSpPr>
        <p:spPr>
          <a:xfrm>
            <a:off x="11365992" y="1234440"/>
            <a:ext cx="201168" cy="20116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4" name="Text 22"/>
          <p:cNvSpPr/>
          <p:nvPr/>
        </p:nvSpPr>
        <p:spPr>
          <a:xfrm>
            <a:off x="9187434" y="12070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in Prod.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187434" y="15544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156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187434" y="21488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C5F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+23 new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187434" y="25146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150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31546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29" name="Shape 27"/>
          <p:cNvSpPr/>
          <p:nvPr/>
        </p:nvSpPr>
        <p:spPr>
          <a:xfrm>
            <a:off x="2772918" y="32918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30" name="Text 28"/>
          <p:cNvSpPr/>
          <p:nvPr/>
        </p:nvSpPr>
        <p:spPr>
          <a:xfrm>
            <a:off x="594360" y="32644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Stakeholder NPS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94360" y="36118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4.2</a:t>
            </a:r>
            <a:endParaRPr lang="en-US" sz="2800" dirty="0"/>
          </a:p>
        </p:txBody>
      </p:sp>
      <p:sp>
        <p:nvSpPr>
          <p:cNvPr id="32" name="Text 30"/>
          <p:cNvSpPr/>
          <p:nvPr/>
        </p:nvSpPr>
        <p:spPr>
          <a:xfrm>
            <a:off x="594360" y="42062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-0.3 QoQ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94360" y="45720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4.5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321558" y="31546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35" name="Shape 33"/>
          <p:cNvSpPr/>
          <p:nvPr/>
        </p:nvSpPr>
        <p:spPr>
          <a:xfrm>
            <a:off x="5637276" y="329184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36" name="Text 34"/>
          <p:cNvSpPr/>
          <p:nvPr/>
        </p:nvSpPr>
        <p:spPr>
          <a:xfrm>
            <a:off x="3458718" y="32644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458718" y="36118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87%</a:t>
            </a:r>
            <a:endParaRPr lang="en-US" sz="2800" dirty="0"/>
          </a:p>
        </p:txBody>
      </p:sp>
      <p:sp>
        <p:nvSpPr>
          <p:cNvPr id="38" name="Text 36"/>
          <p:cNvSpPr/>
          <p:nvPr/>
        </p:nvSpPr>
        <p:spPr>
          <a:xfrm>
            <a:off x="3458718" y="42062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+4% QoQ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458718" y="45720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95%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85916" y="31546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1634" y="3291840"/>
            <a:ext cx="201168" cy="201168"/>
          </a:xfrm>
          <a:prstGeom prst="ellipse">
            <a:avLst/>
          </a:prstGeom>
          <a:solidFill>
            <a:srgbClr val="D4A843"/>
          </a:solidFill>
          <a:ln/>
        </p:spPr>
      </p:sp>
      <p:sp>
        <p:nvSpPr>
          <p:cNvPr id="42" name="Text 40"/>
          <p:cNvSpPr/>
          <p:nvPr/>
        </p:nvSpPr>
        <p:spPr>
          <a:xfrm>
            <a:off x="6323076" y="32644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Compliance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323076" y="36118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78%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6323076" y="42062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+12% QoQ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323076" y="45720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95%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9050274" y="3154680"/>
            <a:ext cx="2681478" cy="1828800"/>
          </a:xfrm>
          <a:prstGeom prst="roundRect">
            <a:avLst>
              <a:gd name="adj" fmla="val 4000"/>
            </a:avLst>
          </a:prstGeom>
          <a:solidFill>
            <a:srgbClr val="E8EDF5"/>
          </a:solidFill>
          <a:ln/>
        </p:spPr>
      </p:sp>
      <p:sp>
        <p:nvSpPr>
          <p:cNvPr id="47" name="Shape 45"/>
          <p:cNvSpPr/>
          <p:nvPr/>
        </p:nvSpPr>
        <p:spPr>
          <a:xfrm>
            <a:off x="11365992" y="3291840"/>
            <a:ext cx="201168" cy="20116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48" name="Text 46"/>
          <p:cNvSpPr/>
          <p:nvPr/>
        </p:nvSpPr>
        <p:spPr>
          <a:xfrm>
            <a:off x="9187434" y="3264408"/>
            <a:ext cx="21785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 Coverage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9187434" y="3611880"/>
            <a:ext cx="240715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2800" dirty="0"/>
          </a:p>
        </p:txBody>
      </p:sp>
      <p:sp>
        <p:nvSpPr>
          <p:cNvPr id="50" name="Text 48"/>
          <p:cNvSpPr/>
          <p:nvPr/>
        </p:nvSpPr>
        <p:spPr>
          <a:xfrm>
            <a:off x="9187434" y="4206240"/>
            <a:ext cx="240715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+15% QoQ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9187434" y="4572000"/>
            <a:ext cx="240715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80%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dashboards, Q1 2026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KPIs require intervention: data quality trails target by 8 points, compliance by 17 points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E8EDF5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097280"/>
            <a:ext cx="363626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2705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87%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95%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QoQ: +4% / quarter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0175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 quarters to target at current pace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3383280"/>
            <a:ext cx="3270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acceleration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3270504" cy="228600"/>
          </a:xfrm>
          <a:prstGeom prst="roundRect">
            <a:avLst>
              <a:gd name="adj" fmla="val 20000"/>
            </a:avLst>
          </a:prstGeom>
          <a:solidFill>
            <a:srgbClr val="999999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840480"/>
            <a:ext cx="2995093" cy="228600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114800"/>
            <a:ext cx="3270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/ 95%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276344" y="109728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E8EDF5"/>
          </a:solidFill>
          <a:ln/>
        </p:spPr>
      </p:sp>
      <p:sp>
        <p:nvSpPr>
          <p:cNvPr id="16" name="Shape 14"/>
          <p:cNvSpPr/>
          <p:nvPr/>
        </p:nvSpPr>
        <p:spPr>
          <a:xfrm>
            <a:off x="4276344" y="1097280"/>
            <a:ext cx="3636264" cy="54864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7" name="Text 15"/>
          <p:cNvSpPr/>
          <p:nvPr/>
        </p:nvSpPr>
        <p:spPr>
          <a:xfrm>
            <a:off x="4459224" y="128016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Compliance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59224" y="1691640"/>
            <a:ext cx="32705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78%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459224" y="23317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95%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459224" y="265176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QoQ: +12% / quarter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59224" y="30175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 quarters at current pace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59224" y="3383280"/>
            <a:ext cx="3270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 if sustained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59224" y="3840480"/>
            <a:ext cx="3270504" cy="228600"/>
          </a:xfrm>
          <a:prstGeom prst="roundRect">
            <a:avLst>
              <a:gd name="adj" fmla="val 20000"/>
            </a:avLst>
          </a:prstGeom>
          <a:solidFill>
            <a:srgbClr val="999999"/>
          </a:solidFill>
          <a:ln/>
        </p:spPr>
      </p:sp>
      <p:sp>
        <p:nvSpPr>
          <p:cNvPr id="24" name="Shape 22"/>
          <p:cNvSpPr/>
          <p:nvPr/>
        </p:nvSpPr>
        <p:spPr>
          <a:xfrm>
            <a:off x="4459224" y="3840480"/>
            <a:ext cx="2685256" cy="228600"/>
          </a:xfrm>
          <a:prstGeom prst="roundRect">
            <a:avLst>
              <a:gd name="adj" fmla="val 20000"/>
            </a:avLst>
          </a:prstGeom>
          <a:solidFill>
            <a:srgbClr val="D4A843"/>
          </a:solidFill>
          <a:ln/>
        </p:spPr>
      </p:sp>
      <p:sp>
        <p:nvSpPr>
          <p:cNvPr id="25" name="Text 23"/>
          <p:cNvSpPr/>
          <p:nvPr/>
        </p:nvSpPr>
        <p:spPr>
          <a:xfrm>
            <a:off x="4459224" y="4114800"/>
            <a:ext cx="3270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/ 95%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095488" y="1097280"/>
            <a:ext cx="3636264" cy="4389120"/>
          </a:xfrm>
          <a:prstGeom prst="roundRect">
            <a:avLst>
              <a:gd name="adj" fmla="val 2012"/>
            </a:avLst>
          </a:prstGeom>
          <a:solidFill>
            <a:srgbClr val="E8EDF5"/>
          </a:solidFill>
          <a:ln/>
        </p:spPr>
      </p:sp>
      <p:sp>
        <p:nvSpPr>
          <p:cNvPr id="27" name="Shape 25"/>
          <p:cNvSpPr/>
          <p:nvPr/>
        </p:nvSpPr>
        <p:spPr>
          <a:xfrm>
            <a:off x="8095488" y="1097280"/>
            <a:ext cx="3636264" cy="54864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/>
          <p:nvPr/>
        </p:nvSpPr>
        <p:spPr>
          <a:xfrm>
            <a:off x="8278368" y="1280160"/>
            <a:ext cx="32705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Steward Coverage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278368" y="1691640"/>
            <a:ext cx="3270504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40%</a:t>
            </a:r>
            <a:endParaRPr lang="en-US" sz="3600" dirty="0"/>
          </a:p>
        </p:txBody>
      </p:sp>
      <p:sp>
        <p:nvSpPr>
          <p:cNvPr id="30" name="Text 28"/>
          <p:cNvSpPr/>
          <p:nvPr/>
        </p:nvSpPr>
        <p:spPr>
          <a:xfrm>
            <a:off x="8278368" y="23317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80%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278368" y="265176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850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QoQ: +15% / quarter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78368" y="3017520"/>
            <a:ext cx="32705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 quarters at current pace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8368" y="3383280"/>
            <a:ext cx="3270504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Achievable with hiring plan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78368" y="3840480"/>
            <a:ext cx="3270504" cy="228600"/>
          </a:xfrm>
          <a:prstGeom prst="roundRect">
            <a:avLst>
              <a:gd name="adj" fmla="val 20000"/>
            </a:avLst>
          </a:prstGeom>
          <a:solidFill>
            <a:srgbClr val="999999"/>
          </a:solidFill>
          <a:ln/>
        </p:spPr>
      </p:sp>
      <p:sp>
        <p:nvSpPr>
          <p:cNvPr id="35" name="Shape 33"/>
          <p:cNvSpPr/>
          <p:nvPr/>
        </p:nvSpPr>
        <p:spPr>
          <a:xfrm>
            <a:off x="8278368" y="3840480"/>
            <a:ext cx="1635252" cy="228600"/>
          </a:xfrm>
          <a:prstGeom prst="roundRect">
            <a:avLst>
              <a:gd name="adj" fmla="val 20000"/>
            </a:avLst>
          </a:prstGeom>
          <a:solidFill>
            <a:srgbClr val="B85042"/>
          </a:solidFill>
          <a:ln/>
        </p:spPr>
      </p:sp>
      <p:sp>
        <p:nvSpPr>
          <p:cNvPr id="36" name="Text 34"/>
          <p:cNvSpPr/>
          <p:nvPr/>
        </p:nvSpPr>
        <p:spPr>
          <a:xfrm>
            <a:off x="8278368" y="4114800"/>
            <a:ext cx="327050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/ 80%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Governance office, data quality monitoring system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80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INITIATIVE PORTFOLIO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of active data &amp; AI initiatives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active initiatives span governance, architecture, and AI deployment with 4 on track and 2 at risk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828800"/>
                <a:gridCol w="1280160"/>
                <a:gridCol w="1097280"/>
                <a:gridCol w="914400"/>
                <a:gridCol w="3227832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Initiative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governance framework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of Governance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Regulatory readiness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 AI Act compliance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Officer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B850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regulatory gaps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risk management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AI/ML Lead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Q2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Production safety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Steward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Q3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 87% to 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access controls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Custodian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breaches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MLOps pipeline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Engineer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CI/CD for models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 initiative tracker, Q1 2026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80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 LANDSCAPE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risks and mitigation status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compliance gap and data quality deficit represent the two highest-severity risks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55001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 Risks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5500116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17320"/>
            <a:ext cx="5500116" cy="2103120"/>
          </a:xfrm>
          <a:prstGeom prst="roundRect">
            <a:avLst>
              <a:gd name="adj" fmla="val 3478"/>
            </a:avLst>
          </a:prstGeom>
          <a:solidFill>
            <a:srgbClr val="E8EDF5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508760"/>
            <a:ext cx="4311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Non-Compliance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951476" y="15087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B85042"/>
          </a:solidFill>
          <a:ln/>
        </p:spPr>
      </p:sp>
      <p:sp>
        <p:nvSpPr>
          <p:cNvPr id="9" name="Text 7"/>
          <p:cNvSpPr/>
          <p:nvPr/>
        </p:nvSpPr>
        <p:spPr>
          <a:xfrm>
            <a:off x="4951476" y="1508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" y="1874520"/>
            <a:ext cx="5225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Likelihood: High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1488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Potential fines up to 7% of revenue ($36.4M)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" y="26060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$1.2M compliance program, external counsel, Q3 deadline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5500116" cy="2103120"/>
          </a:xfrm>
          <a:prstGeom prst="roundRect">
            <a:avLst>
              <a:gd name="adj" fmla="val 3478"/>
            </a:avLst>
          </a:prstGeom>
          <a:solidFill>
            <a:srgbClr val="E8EDF5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794760"/>
            <a:ext cx="4311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Below Threshold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951476" y="37947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4951476" y="3794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5225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Likelihood: Medium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94360" y="44348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Model accuracy degradation, clinical decision risk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48920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Mitigation: Automated monitoring, 12 domain coverage, $600K investment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31636" y="1051560"/>
            <a:ext cx="55001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Watchlist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31636" y="1325880"/>
            <a:ext cx="5500116" cy="54864"/>
          </a:xfrm>
          <a:prstGeom prst="rect">
            <a:avLst/>
          </a:prstGeom>
          <a:solidFill>
            <a:srgbClr val="1A8A7D"/>
          </a:solidFill>
          <a:ln/>
        </p:spPr>
      </p:sp>
      <p:sp>
        <p:nvSpPr>
          <p:cNvPr id="22" name="Shape 20"/>
          <p:cNvSpPr/>
          <p:nvPr/>
        </p:nvSpPr>
        <p:spPr>
          <a:xfrm>
            <a:off x="6231636" y="1417320"/>
            <a:ext cx="5500116" cy="2103120"/>
          </a:xfrm>
          <a:prstGeom prst="roundRect">
            <a:avLst>
              <a:gd name="adj" fmla="val 3478"/>
            </a:avLst>
          </a:prstGeom>
          <a:solidFill>
            <a:srgbClr val="E8EDF5"/>
          </a:solidFill>
          <a:ln/>
        </p:spPr>
      </p:sp>
      <p:sp>
        <p:nvSpPr>
          <p:cNvPr id="23" name="Text 21"/>
          <p:cNvSpPr/>
          <p:nvPr/>
        </p:nvSpPr>
        <p:spPr>
          <a:xfrm>
            <a:off x="6368796" y="1508760"/>
            <a:ext cx="4311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Talent Gap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0725912" y="15087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D4A843"/>
          </a:solidFill>
          <a:ln/>
        </p:spPr>
      </p:sp>
      <p:sp>
        <p:nvSpPr>
          <p:cNvPr id="25" name="Text 23"/>
          <p:cNvSpPr/>
          <p:nvPr/>
        </p:nvSpPr>
        <p:spPr>
          <a:xfrm>
            <a:off x="10725912" y="1508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368796" y="1874520"/>
            <a:ext cx="5225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Likelihood: Medium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68796" y="21488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8 open positions, 6-month avg fill time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368796" y="26060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Monitoring: Weekly recruiting pipeline review, university partnerships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31636" y="3703320"/>
            <a:ext cx="5500116" cy="2103120"/>
          </a:xfrm>
          <a:prstGeom prst="roundRect">
            <a:avLst>
              <a:gd name="adj" fmla="val 3478"/>
            </a:avLst>
          </a:prstGeom>
          <a:solidFill>
            <a:srgbClr val="E8EDF5"/>
          </a:solidFill>
          <a:ln/>
        </p:spPr>
      </p:sp>
      <p:sp>
        <p:nvSpPr>
          <p:cNvPr id="30" name="Text 28"/>
          <p:cNvSpPr/>
          <p:nvPr/>
        </p:nvSpPr>
        <p:spPr>
          <a:xfrm>
            <a:off x="6368796" y="3794760"/>
            <a:ext cx="43113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Migration Delays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725912" y="3794760"/>
            <a:ext cx="822960" cy="274320"/>
          </a:xfrm>
          <a:prstGeom prst="roundRect">
            <a:avLst>
              <a:gd name="adj" fmla="val 16667"/>
            </a:avLst>
          </a:prstGeom>
          <a:solidFill>
            <a:srgbClr val="D4A843"/>
          </a:solidFill>
          <a:ln/>
        </p:spPr>
      </p:sp>
      <p:sp>
        <p:nvSpPr>
          <p:cNvPr id="32" name="Text 30"/>
          <p:cNvSpPr/>
          <p:nvPr/>
        </p:nvSpPr>
        <p:spPr>
          <a:xfrm>
            <a:off x="10725912" y="3794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368796" y="4160520"/>
            <a:ext cx="52257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Likelihood: Low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368796" y="44348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3-month slip affects Phase 2 timeline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68796" y="4892040"/>
            <a:ext cx="52257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Monitoring: Bi-weekly vendor steering committee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Risk register, compliance assessment, HR analytics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2743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dirty="0">
                <a:solidFill>
                  <a:srgbClr val="2251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48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88036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BUDGET &amp; INVESTMENT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3749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position and incremental funding request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$4.1M three-year budget is 92% committed; $1.8M incremental ask for compliance and quality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05156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Budget  |  $2.0M Year 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145182" cy="109728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1962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828800"/>
            <a:ext cx="19623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$850K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2194560"/>
            <a:ext cx="196230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39542" y="1463040"/>
            <a:ext cx="2145182" cy="109728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10" name="Text 8"/>
          <p:cNvSpPr/>
          <p:nvPr/>
        </p:nvSpPr>
        <p:spPr>
          <a:xfrm>
            <a:off x="2830982" y="1554480"/>
            <a:ext cx="1962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830982" y="1828800"/>
            <a:ext cx="19623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$420K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830982" y="2194560"/>
            <a:ext cx="196230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1885" y="1463040"/>
            <a:ext cx="2145182" cy="109728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14" name="Text 12"/>
          <p:cNvSpPr/>
          <p:nvPr/>
        </p:nvSpPr>
        <p:spPr>
          <a:xfrm>
            <a:off x="5113325" y="1554480"/>
            <a:ext cx="1962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Consulting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13325" y="1828800"/>
            <a:ext cx="19623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$350K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113325" y="2194560"/>
            <a:ext cx="196230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304227" y="1463040"/>
            <a:ext cx="2145182" cy="109728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18" name="Text 16"/>
          <p:cNvSpPr/>
          <p:nvPr/>
        </p:nvSpPr>
        <p:spPr>
          <a:xfrm>
            <a:off x="7395667" y="1554480"/>
            <a:ext cx="1962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95667" y="1828800"/>
            <a:ext cx="19623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$180K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95667" y="2194560"/>
            <a:ext cx="196230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586570" y="1463040"/>
            <a:ext cx="2145182" cy="109728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22" name="Text 20"/>
          <p:cNvSpPr/>
          <p:nvPr/>
        </p:nvSpPr>
        <p:spPr>
          <a:xfrm>
            <a:off x="9678010" y="1554480"/>
            <a:ext cx="1962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4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78010" y="1828800"/>
            <a:ext cx="196230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A4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$200K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678010" y="2194560"/>
            <a:ext cx="196230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288036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Incremental Investment Request  |  $1.8M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291840"/>
            <a:ext cx="5545836" cy="146304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200" y="3291840"/>
            <a:ext cx="54864" cy="146304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3383280"/>
            <a:ext cx="5180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Compliance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3703320"/>
            <a:ext cx="51800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8504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$1.2M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640080" y="4160520"/>
            <a:ext cx="51800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FTEs + external counsel + tool licensing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85916" y="3291840"/>
            <a:ext cx="5545836" cy="1463040"/>
          </a:xfrm>
          <a:prstGeom prst="roundRect">
            <a:avLst>
              <a:gd name="adj" fmla="val 5000"/>
            </a:avLst>
          </a:prstGeom>
          <a:solidFill>
            <a:srgbClr val="E8EDF5"/>
          </a:solidFill>
          <a:ln/>
        </p:spPr>
      </p:sp>
      <p:sp>
        <p:nvSpPr>
          <p:cNvPr id="32" name="Shape 30"/>
          <p:cNvSpPr/>
          <p:nvPr/>
        </p:nvSpPr>
        <p:spPr>
          <a:xfrm>
            <a:off x="6185916" y="3291840"/>
            <a:ext cx="54864" cy="146304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3" name="Text 31"/>
          <p:cNvSpPr/>
          <p:nvPr/>
        </p:nvSpPr>
        <p:spPr>
          <a:xfrm>
            <a:off x="6368796" y="3383280"/>
            <a:ext cx="518007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 Acceleration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68796" y="3703320"/>
            <a:ext cx="51800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D4A843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$600K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6368796" y="4160520"/>
            <a:ext cx="518007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monitoring infrastructure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5029200"/>
            <a:ext cx="11274552" cy="457200"/>
          </a:xfrm>
          <a:prstGeom prst="rect">
            <a:avLst>
              <a:gd name="adj" fmla="val 12000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502920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Three-Year Total: $4.1M (committed) + $1.8M (incremental) = $5.9M all-in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Finance team, CDAIO Office budget model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near-term initiatives deliver $3.8M in Year 1 value while addressing critical governance gaps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1274552" cy="1280160"/>
          </a:xfrm>
          <a:prstGeom prst="roundRect">
            <a:avLst>
              <a:gd name="adj" fmla="val 5714"/>
            </a:avLst>
          </a:prstGeom>
          <a:solidFill>
            <a:srgbClr val="E8EDF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71600"/>
            <a:ext cx="548640" cy="54864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371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23444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clinical NLP documentation system across 3 pilot departments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371600" y="1783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$1.1M Y1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0" y="1783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23760" y="17830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AI/ML Lead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11274552" cy="1280160"/>
          </a:xfrm>
          <a:prstGeom prst="roundRect">
            <a:avLst>
              <a:gd name="adj" fmla="val 5714"/>
            </a:avLst>
          </a:prstGeom>
          <a:solidFill>
            <a:srgbClr val="E8EDF5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2834640"/>
            <a:ext cx="548640" cy="54864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8346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269748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predictive no-show model for appointment optimization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7160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$920K Y1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29768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223760" y="32461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11274552" cy="1280160"/>
          </a:xfrm>
          <a:prstGeom prst="roundRect">
            <a:avLst>
              <a:gd name="adj" fmla="val 5714"/>
            </a:avLst>
          </a:prstGeom>
          <a:solidFill>
            <a:srgbClr val="E8EDF5"/>
          </a:solidFill>
          <a:ln/>
        </p:spPr>
      </p:sp>
      <p:sp>
        <p:nvSpPr>
          <p:cNvPr id="19" name="Shape 17"/>
          <p:cNvSpPr/>
          <p:nvPr/>
        </p:nvSpPr>
        <p:spPr>
          <a:xfrm>
            <a:off x="640080" y="4297680"/>
            <a:ext cx="548640" cy="54864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371600" y="4160520"/>
            <a:ext cx="99943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 automated data quality monitoring across 12 clinical data domains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71600" y="4709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87% → 95%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297680" y="4709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223760" y="47091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Steward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Use case scoring matrix, implementation roadmap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is asked to approve $1.8M incremental budget and endorse Q2 governance framework launch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09728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E8EDF5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17320"/>
            <a:ext cx="594360" cy="59436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234440"/>
            <a:ext cx="9902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$1.8M incremental investment for EU AI Act compliance ($1.2M) and data quality acceleration ($600K)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920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type: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approval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120640" y="19202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by: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E8EDF5"/>
          </a:solidFill>
          <a:ln/>
        </p:spPr>
      </p:sp>
      <p:sp>
        <p:nvSpPr>
          <p:cNvPr id="11" name="Shape 9"/>
          <p:cNvSpPr/>
          <p:nvPr/>
        </p:nvSpPr>
        <p:spPr>
          <a:xfrm>
            <a:off x="640080" y="2971800"/>
            <a:ext cx="594360" cy="59436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9718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463040" y="2788920"/>
            <a:ext cx="9902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Endorse data governance framework launch with 6 domain stewards across clinical and operational data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type: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endorsement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20640" y="34747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by: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 2026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420624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E8EDF5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526280"/>
            <a:ext cx="594360" cy="594360"/>
          </a:xfrm>
          <a:prstGeom prst="ellipse">
            <a:avLst/>
          </a:prstGeom>
          <a:solidFill>
            <a:srgbClr val="2251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526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463040" y="4343400"/>
            <a:ext cx="9902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 AI ethics policy review and responsible AI framework presentation at next Board meeting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63040" y="50292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type: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120640" y="50292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by: </a:t>
            </a:r>
            <a:pPr indent="0" marL="0">
              <a:buNone/>
            </a:pPr>
            <a:r>
              <a:rPr lang="en-US" sz="10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 2026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CDAIO Office, Finance team cost estimates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88552" y="0"/>
            <a:ext cx="3200400" cy="6858000"/>
          </a:xfrm>
          <a:prstGeom prst="rect">
            <a:avLst/>
          </a:prstGeom>
          <a:solidFill>
            <a:srgbClr val="2D4A7A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2377440"/>
            <a:ext cx="2286000" cy="54864"/>
          </a:xfrm>
          <a:prstGeom prst="rect">
            <a:avLst/>
          </a:prstGeom>
          <a:solidFill>
            <a:srgbClr val="2251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560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ED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data and detailed analysis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36876" y="2514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999999">
                    <a:alpha val="1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BACKUP</a:t>
            </a:r>
            <a:endParaRPr lang="en-US" sz="1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KPI tracking data supports the performance assessment across 8 metrics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Q4 2025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Q1 2026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QoQ Change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Value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$1.8M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$2.4M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+$600K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$2.0M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+$400K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Adoption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Uptime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Models in Production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Stakeholder NPS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-0.3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50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Policy Compliance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Steward Coverage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B850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3035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Methodology: KPIs measured quarterly via internal dashboards, validated by Finance and Operations. QoQ change represents absolute delta. Gap = Current - Target.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Internal dashboards, governance office, Q1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436876" y="25146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999999">
                    <a:alpha val="15000"/>
                  </a:srgbClr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BACKUP</a:t>
            </a:r>
            <a:endParaRPr lang="en-US" sz="10000" dirty="0"/>
          </a:p>
        </p:txBody>
      </p:sp>
      <p:sp>
        <p:nvSpPr>
          <p:cNvPr id="3" name="Text 1"/>
          <p:cNvSpPr/>
          <p:nvPr/>
        </p:nvSpPr>
        <p:spPr>
          <a:xfrm>
            <a:off x="457200" y="274320"/>
            <a:ext cx="1127455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risk register with severity assessment and mitigation ownership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1274552" cy="18288"/>
          </a:xfrm>
          <a:prstGeom prst="rect">
            <a:avLst/>
          </a:prstGeom>
          <a:solidFill>
            <a:srgbClr val="E8EDF5"/>
          </a:solidFill>
          <a:ln/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97280"/>
                <a:gridCol w="914400"/>
                <a:gridCol w="914400"/>
                <a:gridCol w="1645920"/>
                <a:gridCol w="1645920"/>
                <a:gridCol w="1581912"/>
                <a:gridCol w="7315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Likelihood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Mitigation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EU AI Act Non-Compliance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Regulatory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$36.4M potential fines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program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Compliance Officer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Quality Below Threshold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Operational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accuracy risk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Automated monitoring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Steward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8504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Talent Acquisition Delays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Organizational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Execution slowdown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Recruiting pipeline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 of AI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Migration Slippage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Technical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Phase 2 delay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Vendor management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Engineer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Amber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Stakeholder Resistance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 Mgmt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Adoption risk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Communication plan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Stakeholder Relations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C5F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D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465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Risk register, quarterly assessment, Q1 2026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Meridian Healthcare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Meridian Healthcare — Data, Analytics &amp; AI Board Update</dc:title>
  <dc:subject>Q1 2026 Board Update</dc:subject>
  <dc:creator>CDAIO Office</dc:creator>
  <cp:lastModifiedBy>CDAIO Office</cp:lastModifiedBy>
  <cp:revision>1</cp:revision>
  <dcterms:created xsi:type="dcterms:W3CDTF">2026-03-13T15:05:24Z</dcterms:created>
  <dcterms:modified xsi:type="dcterms:W3CDTF">2026-03-13T15:05:24Z</dcterms:modified>
</cp:coreProperties>
</file>